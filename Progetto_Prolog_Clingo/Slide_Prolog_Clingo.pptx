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77" r:id="rId3"/>
    <p:sldId id="279" r:id="rId4"/>
    <p:sldId id="278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3" r:id="rId15"/>
    <p:sldId id="281" r:id="rId16"/>
    <p:sldId id="280" r:id="rId17"/>
    <p:sldId id="282" r:id="rId18"/>
    <p:sldId id="283" r:id="rId19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CC4CDB-60E7-436B-A91F-BE8D0C5695ED}" v="4" dt="2025-06-04T10:09:39.7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an Francesco Francis Pulle" userId="37c6ab20-eb1d-4ddd-aa1e-f16e0fdf39be" providerId="ADAL" clId="{22CC4CDB-60E7-436B-A91F-BE8D0C5695ED}"/>
    <pc:docChg chg="undo custSel modSld">
      <pc:chgData name="Lakshan Francesco Francis Pulle" userId="37c6ab20-eb1d-4ddd-aa1e-f16e0fdf39be" providerId="ADAL" clId="{22CC4CDB-60E7-436B-A91F-BE8D0C5695ED}" dt="2025-06-04T10:11:27.414" v="873" actId="1076"/>
      <pc:docMkLst>
        <pc:docMk/>
      </pc:docMkLst>
      <pc:sldChg chg="modSp mod">
        <pc:chgData name="Lakshan Francesco Francis Pulle" userId="37c6ab20-eb1d-4ddd-aa1e-f16e0fdf39be" providerId="ADAL" clId="{22CC4CDB-60E7-436B-A91F-BE8D0C5695ED}" dt="2025-06-04T09:37:08.677" v="396" actId="20577"/>
        <pc:sldMkLst>
          <pc:docMk/>
          <pc:sldMk cId="3018503837" sldId="256"/>
        </pc:sldMkLst>
        <pc:spChg chg="mod">
          <ac:chgData name="Lakshan Francesco Francis Pulle" userId="37c6ab20-eb1d-4ddd-aa1e-f16e0fdf39be" providerId="ADAL" clId="{22CC4CDB-60E7-436B-A91F-BE8D0C5695ED}" dt="2025-06-04T09:37:08.677" v="396" actId="20577"/>
          <ac:spMkLst>
            <pc:docMk/>
            <pc:sldMk cId="3018503837" sldId="256"/>
            <ac:spMk id="3" creationId="{15EC6AC5-DCAB-05F1-1673-45E63F3BE6DA}"/>
          </ac:spMkLst>
        </pc:spChg>
      </pc:sldChg>
      <pc:sldChg chg="modSp mod">
        <pc:chgData name="Lakshan Francesco Francis Pulle" userId="37c6ab20-eb1d-4ddd-aa1e-f16e0fdf39be" providerId="ADAL" clId="{22CC4CDB-60E7-436B-A91F-BE8D0C5695ED}" dt="2025-06-04T10:11:19.796" v="872" actId="1076"/>
        <pc:sldMkLst>
          <pc:docMk/>
          <pc:sldMk cId="2190036000" sldId="280"/>
        </pc:sldMkLst>
        <pc:spChg chg="mod">
          <ac:chgData name="Lakshan Francesco Francis Pulle" userId="37c6ab20-eb1d-4ddd-aa1e-f16e0fdf39be" providerId="ADAL" clId="{22CC4CDB-60E7-436B-A91F-BE8D0C5695ED}" dt="2025-06-04T10:11:19.796" v="872" actId="1076"/>
          <ac:spMkLst>
            <pc:docMk/>
            <pc:sldMk cId="2190036000" sldId="280"/>
            <ac:spMk id="3" creationId="{384A1947-C23F-B08A-5FF5-14A5E9D99DDB}"/>
          </ac:spMkLst>
        </pc:spChg>
      </pc:sldChg>
      <pc:sldChg chg="modSp mod">
        <pc:chgData name="Lakshan Francesco Francis Pulle" userId="37c6ab20-eb1d-4ddd-aa1e-f16e0fdf39be" providerId="ADAL" clId="{22CC4CDB-60E7-436B-A91F-BE8D0C5695ED}" dt="2025-06-04T10:11:27.414" v="873" actId="1076"/>
        <pc:sldMkLst>
          <pc:docMk/>
          <pc:sldMk cId="3742242303" sldId="282"/>
        </pc:sldMkLst>
        <pc:spChg chg="mod">
          <ac:chgData name="Lakshan Francesco Francis Pulle" userId="37c6ab20-eb1d-4ddd-aa1e-f16e0fdf39be" providerId="ADAL" clId="{22CC4CDB-60E7-436B-A91F-BE8D0C5695ED}" dt="2025-06-04T10:11:27.414" v="873" actId="1076"/>
          <ac:spMkLst>
            <pc:docMk/>
            <pc:sldMk cId="3742242303" sldId="282"/>
            <ac:spMk id="3" creationId="{3499E4E8-5FFC-2400-19F7-9CA4E15809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3D151-6525-4730-9B74-9E57D439CBDE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3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3438"/>
            <a:ext cx="3079750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4313" y="9723438"/>
            <a:ext cx="3079750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6C959-911E-4017-B12B-7E0DAF14BFA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7867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6C959-911E-4017-B12B-7E0DAF14BFA8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0789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0933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234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283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953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235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965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6127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237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5360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599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772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8960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9559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441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830792C-11EF-42E9-8AF2-F76280BCF5B5}" type="datetimeFigureOut">
              <a:rPr lang="it-IT" smtClean="0"/>
              <a:t>14/10/2026</a:t>
            </a:fld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CC69293-010F-4FEF-BB3A-94946525D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38559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234041-58A6-A380-9DB5-E8FB0F5F2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814" y="1449147"/>
            <a:ext cx="11504428" cy="2971051"/>
          </a:xfrm>
        </p:spPr>
        <p:txBody>
          <a:bodyPr/>
          <a:lstStyle/>
          <a:p>
            <a:r>
              <a:rPr lang="it-IT" dirty="0"/>
              <a:t>Progetto</a:t>
            </a:r>
            <a:br>
              <a:rPr lang="it-IT" sz="5000" dirty="0"/>
            </a:br>
            <a:r>
              <a:rPr lang="it-IT" sz="5000" dirty="0"/>
              <a:t>Intelligenza Artificiale E Laboratorio</a:t>
            </a:r>
            <a:br>
              <a:rPr lang="it-IT" sz="5000" dirty="0"/>
            </a:br>
            <a:r>
              <a:rPr lang="it-IT" sz="3200" dirty="0" err="1"/>
              <a:t>Prolog</a:t>
            </a:r>
            <a:endParaRPr lang="it-IT" sz="32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EC6AC5-DCAB-05F1-1673-45E63F3BE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146158"/>
            <a:ext cx="10924801" cy="1488559"/>
          </a:xfrm>
        </p:spPr>
        <p:txBody>
          <a:bodyPr>
            <a:normAutofit fontScale="92500" lnSpcReduction="10000"/>
          </a:bodyPr>
          <a:lstStyle/>
          <a:p>
            <a:r>
              <a:rPr lang="it-IT" sz="2000" b="1" dirty="0"/>
              <a:t>Partecipanti</a:t>
            </a:r>
          </a:p>
          <a:p>
            <a:r>
              <a:rPr lang="it-IT"/>
              <a:t>Bono Giulia</a:t>
            </a:r>
          </a:p>
          <a:p>
            <a:r>
              <a:rPr lang="it-IT"/>
              <a:t>Francesco </a:t>
            </a:r>
            <a:r>
              <a:rPr lang="it-IT" dirty="0"/>
              <a:t>F.</a:t>
            </a:r>
          </a:p>
          <a:p>
            <a:r>
              <a:rPr lang="it-IT" dirty="0"/>
              <a:t>Federica L.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F8ACFB-1CAC-3545-1ED7-DDB4A7537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424" y="223283"/>
            <a:ext cx="2071577" cy="255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50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21B7EF-61C5-F6E9-6848-15F4D099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Scelte implementative – A*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46F5FAD-C8C7-A7FC-CC29-3C9FB72C2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9999" y="2388992"/>
            <a:ext cx="10571998" cy="3894113"/>
          </a:xfrm>
        </p:spPr>
        <p:txBody>
          <a:bodyPr>
            <a:normAutofit/>
          </a:bodyPr>
          <a:lstStyle/>
          <a:p>
            <a:r>
              <a:rPr lang="it-IT" dirty="0"/>
              <a:t>Coda di priorità, salva i dati [Euristica, Stato, </a:t>
            </a:r>
            <a:r>
              <a:rPr lang="it-IT" dirty="0" err="1"/>
              <a:t>Path</a:t>
            </a:r>
            <a:r>
              <a:rPr lang="it-IT" dirty="0"/>
              <a:t>, Apertura]:</a:t>
            </a:r>
          </a:p>
          <a:p>
            <a:pPr lvl="1"/>
            <a:r>
              <a:rPr lang="it-IT" b="1" dirty="0"/>
              <a:t>Euristica</a:t>
            </a:r>
            <a:r>
              <a:rPr lang="it-IT" dirty="0"/>
              <a:t> in prima posizione serve per ordinare la lista;</a:t>
            </a:r>
          </a:p>
          <a:p>
            <a:pPr lvl="1"/>
            <a:r>
              <a:rPr lang="it-IT" b="1" dirty="0"/>
              <a:t>Stato </a:t>
            </a:r>
            <a:r>
              <a:rPr lang="it-IT" dirty="0"/>
              <a:t>rappresenta la posizione di gioco;</a:t>
            </a:r>
          </a:p>
          <a:p>
            <a:pPr lvl="1"/>
            <a:r>
              <a:rPr lang="it-IT" b="1" dirty="0" err="1"/>
              <a:t>Path</a:t>
            </a:r>
            <a:r>
              <a:rPr lang="it-IT" b="1" dirty="0"/>
              <a:t> </a:t>
            </a:r>
            <a:r>
              <a:rPr lang="it-IT" dirty="0"/>
              <a:t>è una lista [azione, posizione] che indica il percorso a partire da S</a:t>
            </a:r>
            <a:r>
              <a:rPr lang="it-IT" sz="1050" dirty="0"/>
              <a:t>0</a:t>
            </a:r>
            <a:r>
              <a:rPr lang="it-IT" dirty="0"/>
              <a:t> fino allo stato attuale;</a:t>
            </a:r>
          </a:p>
          <a:p>
            <a:pPr lvl="1"/>
            <a:r>
              <a:rPr lang="it-IT" b="1" dirty="0"/>
              <a:t>Apertura </a:t>
            </a:r>
            <a:r>
              <a:rPr lang="it-IT" dirty="0"/>
              <a:t>indica lo stato di aperto/chiuso di un nodo.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18D5140C-81ED-6D1F-B73A-4B122D3AE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940" y="4336048"/>
            <a:ext cx="6695324" cy="229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26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2F1772-A3B8-3DF7-333E-B960B2E8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Scelte implementative – IDA*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AE36487E-81AF-895C-70D9-C3F5AE713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0000" y="2760191"/>
            <a:ext cx="10571997" cy="3109912"/>
          </a:xfrm>
        </p:spPr>
        <p:txBody>
          <a:bodyPr>
            <a:normAutofit/>
          </a:bodyPr>
          <a:lstStyle/>
          <a:p>
            <a:r>
              <a:rPr lang="it-IT" dirty="0"/>
              <a:t>Gestione della modifica del </a:t>
            </a:r>
            <a:r>
              <a:rPr lang="it-IT" dirty="0" err="1"/>
              <a:t>threshold</a:t>
            </a:r>
            <a:r>
              <a:rPr lang="it-IT" dirty="0"/>
              <a:t>, tramite l’utilizzo di:</a:t>
            </a:r>
          </a:p>
          <a:p>
            <a:pPr lvl="1"/>
            <a:r>
              <a:rPr lang="it-IT" b="1" dirty="0" err="1"/>
              <a:t>Initialize</a:t>
            </a:r>
            <a:r>
              <a:rPr lang="it-IT" dirty="0"/>
              <a:t> inizializza il valore del </a:t>
            </a:r>
            <a:r>
              <a:rPr lang="it-IT" dirty="0" err="1"/>
              <a:t>threshold</a:t>
            </a:r>
            <a:r>
              <a:rPr lang="it-IT" dirty="0"/>
              <a:t>;</a:t>
            </a:r>
            <a:endParaRPr lang="it-IT" b="1" dirty="0"/>
          </a:p>
          <a:p>
            <a:pPr lvl="1"/>
            <a:r>
              <a:rPr lang="it-IT" b="1" dirty="0"/>
              <a:t>Ida </a:t>
            </a:r>
            <a:r>
              <a:rPr lang="it-IT" dirty="0"/>
              <a:t>richiama la regola Profondità e verifica che il Cammino non sia «break»;</a:t>
            </a:r>
          </a:p>
          <a:p>
            <a:pPr lvl="1"/>
            <a:r>
              <a:rPr lang="it-IT" b="1" dirty="0"/>
              <a:t>Ida</a:t>
            </a:r>
            <a:r>
              <a:rPr lang="it-IT" dirty="0"/>
              <a:t> aggiorna il </a:t>
            </a:r>
            <a:r>
              <a:rPr lang="it-IT" dirty="0" err="1"/>
              <a:t>threshold</a:t>
            </a:r>
            <a:r>
              <a:rPr lang="it-IT" dirty="0"/>
              <a:t> e richiama la regola Ida;</a:t>
            </a:r>
          </a:p>
          <a:p>
            <a:pPr lvl="1"/>
            <a:r>
              <a:rPr lang="it-IT" b="1" dirty="0"/>
              <a:t>Profondità</a:t>
            </a:r>
            <a:r>
              <a:rPr lang="it-IT" dirty="0"/>
              <a:t> fa la ricerca e assegna un valore a Cammino, che potrebbe anche essere break.</a:t>
            </a:r>
          </a:p>
          <a:p>
            <a:r>
              <a:rPr lang="it-IT" dirty="0"/>
              <a:t>Utilizzo del </a:t>
            </a:r>
            <a:r>
              <a:rPr lang="it-IT" dirty="0" err="1"/>
              <a:t>cut</a:t>
            </a:r>
            <a:r>
              <a:rPr lang="it-IT" dirty="0"/>
              <a:t> in Profondità, Ricerca e Controllo.</a:t>
            </a:r>
          </a:p>
          <a:p>
            <a:r>
              <a:rPr lang="it-IT" dirty="0"/>
              <a:t>Utilizzo di un limite massimo di ricerca dato da input.</a:t>
            </a:r>
          </a:p>
        </p:txBody>
      </p:sp>
    </p:spTree>
    <p:extLst>
      <p:ext uri="{BB962C8B-B14F-4D97-AF65-F5344CB8AC3E}">
        <p14:creationId xmlns:p14="http://schemas.microsoft.com/office/powerpoint/2010/main" val="276442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C9786F-F66B-EAE3-B824-76F774F8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Scelte implementative - giochi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7870038-D9D6-DBEE-FB2A-5B9D0F51B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2355940"/>
            <a:ext cx="5189857" cy="576262"/>
          </a:xfrm>
        </p:spPr>
        <p:txBody>
          <a:bodyPr/>
          <a:lstStyle/>
          <a:p>
            <a:r>
              <a:rPr lang="it-IT" sz="2400" b="1" dirty="0"/>
              <a:t>Labirinto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6425CC-46F1-0937-3194-392531354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000" y="3122325"/>
            <a:ext cx="5189856" cy="3109913"/>
          </a:xfrm>
        </p:spPr>
        <p:txBody>
          <a:bodyPr/>
          <a:lstStyle/>
          <a:p>
            <a:r>
              <a:rPr lang="it-IT" dirty="0"/>
              <a:t>Euristica: Distanza di Manhattan, di cui scegliamo sempre la minima;</a:t>
            </a:r>
          </a:p>
          <a:p>
            <a:r>
              <a:rPr lang="it-IT" dirty="0"/>
              <a:t>Stato rappresentato dalla posizione </a:t>
            </a:r>
            <a:r>
              <a:rPr lang="it-IT" dirty="0" err="1"/>
              <a:t>pos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).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1590B12-A7EC-0910-8303-4F449124B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7415" y="2355940"/>
            <a:ext cx="5194583" cy="576262"/>
          </a:xfrm>
        </p:spPr>
        <p:txBody>
          <a:bodyPr/>
          <a:lstStyle/>
          <a:p>
            <a:r>
              <a:rPr lang="it-IT" sz="2400" b="1" dirty="0"/>
              <a:t>Gioco 8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FAC59E1-3D70-08D6-F2ED-289D537AB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7414" y="3122324"/>
            <a:ext cx="5194583" cy="3109913"/>
          </a:xfrm>
        </p:spPr>
        <p:txBody>
          <a:bodyPr/>
          <a:lstStyle/>
          <a:p>
            <a:r>
              <a:rPr lang="it-IT" dirty="0"/>
              <a:t>Euristica: somma delle caselle differenti;</a:t>
            </a:r>
          </a:p>
          <a:p>
            <a:r>
              <a:rPr lang="it-IT" dirty="0"/>
              <a:t>Stato rappresentato dall’intera plancia con i valori [</a:t>
            </a:r>
            <a:r>
              <a:rPr lang="it-IT" dirty="0" err="1"/>
              <a:t>pos</a:t>
            </a:r>
            <a:r>
              <a:rPr lang="it-IT" dirty="0"/>
              <a:t>(</a:t>
            </a:r>
            <a:r>
              <a:rPr lang="it-IT" dirty="0" err="1"/>
              <a:t>x,y</a:t>
            </a:r>
            <a:r>
              <a:rPr lang="it-IT" dirty="0"/>
              <a:t>) , val].</a:t>
            </a:r>
          </a:p>
        </p:txBody>
      </p:sp>
    </p:spTree>
    <p:extLst>
      <p:ext uri="{BB962C8B-B14F-4D97-AF65-F5344CB8AC3E}">
        <p14:creationId xmlns:p14="http://schemas.microsoft.com/office/powerpoint/2010/main" val="886507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F826C-6F1A-8252-544A-C1F64189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A2F176-C91A-ABB3-62CF-F2B4862F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000" dirty="0" err="1"/>
              <a:t>Prolog</a:t>
            </a:r>
            <a:r>
              <a:rPr lang="it-IT" sz="4000" dirty="0"/>
              <a:t> – Labirinto </a:t>
            </a:r>
            <a:br>
              <a:rPr lang="it-IT" dirty="0"/>
            </a:br>
            <a:r>
              <a:rPr lang="it-IT" sz="2800" dirty="0"/>
              <a:t>A* VS IDA*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A6BD7A3-BCBD-6059-F706-3DA26F3E67FC}"/>
              </a:ext>
            </a:extLst>
          </p:cNvPr>
          <p:cNvSpPr txBox="1"/>
          <p:nvPr/>
        </p:nvSpPr>
        <p:spPr>
          <a:xfrm>
            <a:off x="733525" y="5771399"/>
            <a:ext cx="307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Percorso A* (meno di 1s)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3800F97-843C-AF09-09F6-164A95444BB6}"/>
              </a:ext>
            </a:extLst>
          </p:cNvPr>
          <p:cNvSpPr txBox="1"/>
          <p:nvPr/>
        </p:nvSpPr>
        <p:spPr>
          <a:xfrm>
            <a:off x="4503056" y="5771399"/>
            <a:ext cx="314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Percorso IDA* (meno di 1s)</a:t>
            </a:r>
          </a:p>
        </p:txBody>
      </p:sp>
      <p:pic>
        <p:nvPicPr>
          <p:cNvPr id="20" name="Segnaposto contenuto 19" descr="Immagine che contiene quadrato, Rettangolo, Policromia&#10;&#10;Il contenuto generato dall'IA potrebbe non essere corretto.">
            <a:extLst>
              <a:ext uri="{FF2B5EF4-FFF2-40B4-BE49-F238E27FC236}">
                <a16:creationId xmlns:a16="http://schemas.microsoft.com/office/drawing/2014/main" id="{7DF04A3E-F511-05D5-F955-B5102BF13C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28" y="2546649"/>
            <a:ext cx="3281687" cy="3109912"/>
          </a:xfrm>
        </p:spPr>
      </p:pic>
      <p:pic>
        <p:nvPicPr>
          <p:cNvPr id="22" name="Segnaposto contenuto 21" descr="Immagine che contiene quadrato, Rettangolo, Policromia, piastrella&#10;&#10;Il contenuto generato dall'IA potrebbe non essere corretto.">
            <a:extLst>
              <a:ext uri="{FF2B5EF4-FFF2-40B4-BE49-F238E27FC236}">
                <a16:creationId xmlns:a16="http://schemas.microsoft.com/office/drawing/2014/main" id="{9F21ECBB-2FF9-BCCE-CE8F-185A0414029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487" y="2546649"/>
            <a:ext cx="3037023" cy="3109912"/>
          </a:xfrm>
        </p:spPr>
      </p:pic>
      <p:pic>
        <p:nvPicPr>
          <p:cNvPr id="23" name="Immagine 22" descr="Immagine che contiene quadrato, Rettangolo, Policromia&#10;&#10;Il contenuto generato dall'IA potrebbe non essere corretto.">
            <a:extLst>
              <a:ext uri="{FF2B5EF4-FFF2-40B4-BE49-F238E27FC236}">
                <a16:creationId xmlns:a16="http://schemas.microsoft.com/office/drawing/2014/main" id="{4D2CC01D-E685-EBB9-FEB0-49D7A5CF09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582" y="2545410"/>
            <a:ext cx="3144345" cy="3114867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E28A119-E93F-9CFD-FB2E-4B57627653BE}"/>
              </a:ext>
            </a:extLst>
          </p:cNvPr>
          <p:cNvSpPr txBox="1"/>
          <p:nvPr/>
        </p:nvSpPr>
        <p:spPr>
          <a:xfrm>
            <a:off x="7996639" y="5771399"/>
            <a:ext cx="374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Percorso A* e IDA* (meno di 1s)</a:t>
            </a:r>
          </a:p>
        </p:txBody>
      </p:sp>
    </p:spTree>
    <p:extLst>
      <p:ext uri="{BB962C8B-B14F-4D97-AF65-F5344CB8AC3E}">
        <p14:creationId xmlns:p14="http://schemas.microsoft.com/office/powerpoint/2010/main" val="1651116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70D72-DED6-DD89-26E4-D04D3A036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00F9AB-20DF-2280-BF8A-8660EF4A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000" dirty="0" err="1"/>
              <a:t>Prolog</a:t>
            </a:r>
            <a:r>
              <a:rPr lang="it-IT" sz="4000" dirty="0"/>
              <a:t> – Labirinto </a:t>
            </a:r>
            <a:br>
              <a:rPr lang="it-IT" dirty="0"/>
            </a:br>
            <a:r>
              <a:rPr lang="it-IT" sz="2800" dirty="0"/>
              <a:t>A* VS IDA*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068513-8ECF-A16D-C4F7-B1A4D229F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10567270" cy="576262"/>
          </a:xfrm>
        </p:spPr>
        <p:txBody>
          <a:bodyPr/>
          <a:lstStyle/>
          <a:p>
            <a:r>
              <a:rPr lang="it-IT" sz="1800" dirty="0"/>
              <a:t>Aumentando il numero di ostacoli possiamo vedere come i due metodi di ricerca iniziano ad avere comportamenti diversi, raggiungendo traguardi diversi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6A43313-E12F-6E43-1C11-1CC88B81ABE2}"/>
              </a:ext>
            </a:extLst>
          </p:cNvPr>
          <p:cNvSpPr txBox="1"/>
          <p:nvPr/>
        </p:nvSpPr>
        <p:spPr>
          <a:xfrm>
            <a:off x="1871208" y="6145256"/>
            <a:ext cx="307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Percorso A* (meno di 1s)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FE6CC75-E423-D7FF-97D7-47CC9E5B1AED}"/>
              </a:ext>
            </a:extLst>
          </p:cNvPr>
          <p:cNvSpPr txBox="1"/>
          <p:nvPr/>
        </p:nvSpPr>
        <p:spPr>
          <a:xfrm>
            <a:off x="7211429" y="6158076"/>
            <a:ext cx="314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Percorso IDA* (meno di 1s)</a:t>
            </a:r>
          </a:p>
        </p:txBody>
      </p:sp>
      <p:pic>
        <p:nvPicPr>
          <p:cNvPr id="13" name="Segnaposto contenuto 12" descr="Immagine che contiene quadrato, Rettangolo, Policromia, testo&#10;&#10;Il contenuto generato dall'IA potrebbe non essere corretto.">
            <a:extLst>
              <a:ext uri="{FF2B5EF4-FFF2-40B4-BE49-F238E27FC236}">
                <a16:creationId xmlns:a16="http://schemas.microsoft.com/office/drawing/2014/main" id="{58D3DFC9-5A03-9A9D-5E8F-C52A8FC573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48" y="2751138"/>
            <a:ext cx="3117217" cy="3109912"/>
          </a:xfrm>
        </p:spPr>
      </p:pic>
      <p:pic>
        <p:nvPicPr>
          <p:cNvPr id="15" name="Segnaposto contenuto 14" descr="Immagine che contiene quadrato, Rettangolo, Policromia, schermata&#10;&#10;Il contenuto generato dall'IA potrebbe non essere corretto.">
            <a:extLst>
              <a:ext uri="{FF2B5EF4-FFF2-40B4-BE49-F238E27FC236}">
                <a16:creationId xmlns:a16="http://schemas.microsoft.com/office/drawing/2014/main" id="{608D6B40-3F09-BF4B-72D0-E360C8B82F1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661" y="2751138"/>
            <a:ext cx="2947127" cy="3109912"/>
          </a:xfrm>
        </p:spPr>
      </p:pic>
    </p:spTree>
    <p:extLst>
      <p:ext uri="{BB962C8B-B14F-4D97-AF65-F5344CB8AC3E}">
        <p14:creationId xmlns:p14="http://schemas.microsoft.com/office/powerpoint/2010/main" val="337184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32BEE-9BD2-8795-2F94-6774188E7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D9F092-FCF6-A7CC-1682-91771D23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000" dirty="0" err="1"/>
              <a:t>Prolog</a:t>
            </a:r>
            <a:r>
              <a:rPr lang="it-IT" sz="4000" dirty="0"/>
              <a:t> – Labirinto </a:t>
            </a:r>
            <a:br>
              <a:rPr lang="it-IT" dirty="0"/>
            </a:br>
            <a:r>
              <a:rPr lang="it-IT" sz="2800" dirty="0"/>
              <a:t>A* VS IDA*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190B9F-3C9B-3852-A712-EAF28057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10567270" cy="576262"/>
          </a:xfrm>
        </p:spPr>
        <p:txBody>
          <a:bodyPr/>
          <a:lstStyle/>
          <a:p>
            <a:r>
              <a:rPr lang="it-IT" sz="1800" dirty="0"/>
              <a:t>Aumentando ulteriormente la dimensione del labirinto e il numero di ostacoli, si può osservare nuovamente la differenza di percorso, ma soprattutto la differenza di tempistiche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4DE4B75-B169-7370-5291-7D5109484698}"/>
              </a:ext>
            </a:extLst>
          </p:cNvPr>
          <p:cNvSpPr txBox="1"/>
          <p:nvPr/>
        </p:nvSpPr>
        <p:spPr>
          <a:xfrm>
            <a:off x="1871208" y="6145256"/>
            <a:ext cx="307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Percorso A* (meno di 1s)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13A12D1-4478-7909-B975-72192D560D35}"/>
              </a:ext>
            </a:extLst>
          </p:cNvPr>
          <p:cNvSpPr txBox="1"/>
          <p:nvPr/>
        </p:nvSpPr>
        <p:spPr>
          <a:xfrm>
            <a:off x="7211429" y="6158076"/>
            <a:ext cx="314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Percorso IDA* </a:t>
            </a:r>
            <a:r>
              <a:rPr lang="it-IT" b="1" dirty="0"/>
              <a:t>(20.50 s)</a:t>
            </a:r>
          </a:p>
        </p:txBody>
      </p:sp>
      <p:pic>
        <p:nvPicPr>
          <p:cNvPr id="27" name="Segnaposto contenuto 26" descr="Immagine che contiene quadrato, Rettangolo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624B0A0D-F624-10BE-5E5D-17DF7E5C37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88" y="2939786"/>
            <a:ext cx="5189537" cy="2732615"/>
          </a:xfrm>
        </p:spPr>
      </p:pic>
      <p:pic>
        <p:nvPicPr>
          <p:cNvPr id="31" name="Segnaposto contenuto 30" descr="Immagine che contiene quadrato, Rettangolo, linea&#10;&#10;Il contenuto generato dall'IA potrebbe non essere corretto.">
            <a:extLst>
              <a:ext uri="{FF2B5EF4-FFF2-40B4-BE49-F238E27FC236}">
                <a16:creationId xmlns:a16="http://schemas.microsoft.com/office/drawing/2014/main" id="{50D11CBE-5DAC-20B2-13CB-EB1D90736E6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75" y="2818820"/>
            <a:ext cx="5194300" cy="2974548"/>
          </a:xfrm>
        </p:spPr>
      </p:pic>
    </p:spTree>
    <p:extLst>
      <p:ext uri="{BB962C8B-B14F-4D97-AF65-F5344CB8AC3E}">
        <p14:creationId xmlns:p14="http://schemas.microsoft.com/office/powerpoint/2010/main" val="50191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17F4D-7F78-AE23-07B0-5B1C2396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10B5DC-90CD-D82E-A76B-242B4B00B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000" dirty="0" err="1"/>
              <a:t>Prolog</a:t>
            </a:r>
            <a:r>
              <a:rPr lang="it-IT" sz="4000" dirty="0"/>
              <a:t> – Labirinto </a:t>
            </a:r>
            <a:br>
              <a:rPr lang="it-IT" dirty="0"/>
            </a:br>
            <a:r>
              <a:rPr lang="it-IT" sz="2800" dirty="0"/>
              <a:t>A* VS IDA*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9F0768-7D33-044F-FAE4-FAB69CA00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10567270" cy="576262"/>
          </a:xfrm>
        </p:spPr>
        <p:txBody>
          <a:bodyPr/>
          <a:lstStyle/>
          <a:p>
            <a:r>
              <a:rPr lang="it-IT" sz="1800" dirty="0"/>
              <a:t>Proviamo quindi a diminuire il numero di ostacoli all’interno del labirinto, per vedere come cambiano i risultati delle due ricerche.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0902E90-16A3-F58A-53DF-F118A8C7C8CB}"/>
              </a:ext>
            </a:extLst>
          </p:cNvPr>
          <p:cNvSpPr txBox="1"/>
          <p:nvPr/>
        </p:nvSpPr>
        <p:spPr>
          <a:xfrm>
            <a:off x="4642135" y="4318875"/>
            <a:ext cx="3075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Percorso A* (meno di 1s)</a:t>
            </a:r>
          </a:p>
        </p:txBody>
      </p:sp>
      <p:pic>
        <p:nvPicPr>
          <p:cNvPr id="9" name="Segnaposto contenuto 8" descr="Immagine che contiene quadrato, linea, Rettangolo, diagramma&#10;&#10;Il contenuto generato dall'IA potrebbe non essere corretto.">
            <a:extLst>
              <a:ext uri="{FF2B5EF4-FFF2-40B4-BE49-F238E27FC236}">
                <a16:creationId xmlns:a16="http://schemas.microsoft.com/office/drawing/2014/main" id="{043A0E00-9678-0DE8-71D0-8DE249D2D0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85" y="2843678"/>
            <a:ext cx="3376088" cy="1790909"/>
          </a:xfrm>
        </p:spPr>
      </p:pic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BBC896DA-60AC-8E22-1C64-97C581FBF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2135" y="3208547"/>
            <a:ext cx="6283106" cy="898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A* mantiene un ottimo risultato con un’analisi in meno di un secondo e una soluzione ottima.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A8E2AFA-D1F3-EC96-BCA5-069B7DFDE96A}"/>
              </a:ext>
            </a:extLst>
          </p:cNvPr>
          <p:cNvSpPr txBox="1"/>
          <p:nvPr/>
        </p:nvSpPr>
        <p:spPr>
          <a:xfrm>
            <a:off x="5354840" y="6134072"/>
            <a:ext cx="2078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Percorso IDA* (4,38 s)</a:t>
            </a:r>
          </a:p>
        </p:txBody>
      </p:sp>
      <p:sp>
        <p:nvSpPr>
          <p:cNvPr id="6" name="Segnaposto contenuto 6">
            <a:extLst>
              <a:ext uri="{FF2B5EF4-FFF2-40B4-BE49-F238E27FC236}">
                <a16:creationId xmlns:a16="http://schemas.microsoft.com/office/drawing/2014/main" id="{51EA79F5-73E5-49E0-BDDB-B04C2A47EA9E}"/>
              </a:ext>
            </a:extLst>
          </p:cNvPr>
          <p:cNvSpPr txBox="1">
            <a:spLocks/>
          </p:cNvSpPr>
          <p:nvPr/>
        </p:nvSpPr>
        <p:spPr>
          <a:xfrm>
            <a:off x="1138585" y="4881435"/>
            <a:ext cx="6077027" cy="1406525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it-IT" dirty="0"/>
              <a:t>IDA* invece richiede troppo tempo e memoria per completare la ricerca. </a:t>
            </a:r>
          </a:p>
          <a:p>
            <a:pPr marL="0" indent="0">
              <a:buFont typeface="Wingdings 2" charset="2"/>
              <a:buNone/>
            </a:pPr>
            <a:r>
              <a:rPr lang="it-IT" dirty="0"/>
              <a:t>Spostando lo stato iniziale in </a:t>
            </a:r>
            <a:r>
              <a:rPr lang="it-IT" dirty="0" err="1"/>
              <a:t>pos</a:t>
            </a:r>
            <a:r>
              <a:rPr lang="it-IT" dirty="0"/>
              <a:t>(5,9). IDA* riesce a non visitare stati inutili grazie alla diminuzione del </a:t>
            </a:r>
            <a:r>
              <a:rPr lang="it-IT" dirty="0" err="1"/>
              <a:t>threshold</a:t>
            </a:r>
            <a:r>
              <a:rPr lang="it-IT" dirty="0"/>
              <a:t>.</a:t>
            </a:r>
          </a:p>
          <a:p>
            <a:pPr marL="0" indent="0">
              <a:buFont typeface="Wingdings 2" charset="2"/>
              <a:buNone/>
            </a:pPr>
            <a:endParaRPr lang="it-IT" dirty="0"/>
          </a:p>
        </p:txBody>
      </p:sp>
      <p:pic>
        <p:nvPicPr>
          <p:cNvPr id="10" name="Immagine 9" descr="Immagine che contiene quadrato, Rettangolo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2615917E-AE09-D50C-93BE-9F5E0B57B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329" y="4581770"/>
            <a:ext cx="3866707" cy="200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92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716E7-EB29-1688-81DD-39109DFF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086466-97A3-7302-6078-13CE3010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000" dirty="0" err="1"/>
              <a:t>Prolog</a:t>
            </a:r>
            <a:r>
              <a:rPr lang="it-IT" sz="4000" dirty="0"/>
              <a:t> – Labirinto </a:t>
            </a:r>
            <a:br>
              <a:rPr lang="it-IT" dirty="0"/>
            </a:br>
            <a:r>
              <a:rPr lang="it-IT" sz="2800" dirty="0"/>
              <a:t>A* VS IDA*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CF6DFA-06F5-C5F1-9AFB-F3AF50D22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00" y="2297243"/>
            <a:ext cx="10567270" cy="743861"/>
          </a:xfrm>
        </p:spPr>
        <p:txBody>
          <a:bodyPr/>
          <a:lstStyle/>
          <a:p>
            <a:r>
              <a:rPr lang="it-IT" sz="1800" dirty="0"/>
              <a:t>Con un labirinto più complesso e con più ostacoli, vediamo come nel risultato finale A* riesce a mantenere risultati ottimi e veloci, mentre IDA* dipende molto dalla densità di ostacoli.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949228C-F0A7-E938-4E92-FCF69ED4D61F}"/>
              </a:ext>
            </a:extLst>
          </p:cNvPr>
          <p:cNvSpPr txBox="1"/>
          <p:nvPr/>
        </p:nvSpPr>
        <p:spPr>
          <a:xfrm>
            <a:off x="1871208" y="6145256"/>
            <a:ext cx="307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Percorso A* (meno di 1s)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C5575B2-0F7B-2669-2EEE-9158A6CBCE91}"/>
              </a:ext>
            </a:extLst>
          </p:cNvPr>
          <p:cNvSpPr txBox="1"/>
          <p:nvPr/>
        </p:nvSpPr>
        <p:spPr>
          <a:xfrm>
            <a:off x="7211429" y="6158076"/>
            <a:ext cx="314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Percorso IDA* </a:t>
            </a:r>
            <a:r>
              <a:rPr lang="it-IT" b="1" dirty="0"/>
              <a:t>(6.75 s)</a:t>
            </a:r>
          </a:p>
        </p:txBody>
      </p:sp>
      <p:pic>
        <p:nvPicPr>
          <p:cNvPr id="9" name="Segnaposto contenuto 8" descr="Immagine che contiene quadrato, Rettangolo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83040624-298D-7291-B9D9-62A7AAA90E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88" y="3184302"/>
            <a:ext cx="5189537" cy="2817756"/>
          </a:xfrm>
        </p:spPr>
      </p:pic>
      <p:pic>
        <p:nvPicPr>
          <p:cNvPr id="13" name="Segnaposto contenuto 12" descr="Immagine che contiene quadra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9D7BF4BC-2F30-1810-21F6-E75487F17E0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75" y="3221560"/>
            <a:ext cx="5194300" cy="2743239"/>
          </a:xfrm>
        </p:spPr>
      </p:pic>
    </p:spTree>
    <p:extLst>
      <p:ext uri="{BB962C8B-B14F-4D97-AF65-F5344CB8AC3E}">
        <p14:creationId xmlns:p14="http://schemas.microsoft.com/office/powerpoint/2010/main" val="167994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36D4-A9FC-FC3E-9EC4-CF773B1AC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318ECC-286D-6C9C-F96C-07FCB749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000" dirty="0" err="1"/>
              <a:t>Prolog</a:t>
            </a:r>
            <a:r>
              <a:rPr lang="it-IT" sz="4000" dirty="0"/>
              <a:t> – Gioco del 8 </a:t>
            </a:r>
            <a:br>
              <a:rPr lang="it-IT" dirty="0"/>
            </a:br>
            <a:r>
              <a:rPr lang="it-IT" sz="2800" dirty="0"/>
              <a:t>A* VS IDA*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7A5C903-099C-FEB6-B28E-B98E293B9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10567270" cy="576262"/>
          </a:xfrm>
        </p:spPr>
        <p:txBody>
          <a:bodyPr/>
          <a:lstStyle/>
          <a:p>
            <a:r>
              <a:rPr lang="it-IT" sz="1800" dirty="0"/>
              <a:t>Iniziamo il test di A* e IDA* sul gioco del 8. Con 13 mosse applicate, possiamo vedere come i comportamenti di A* e IDA* cambiano.</a:t>
            </a:r>
          </a:p>
        </p:txBody>
      </p:sp>
      <p:pic>
        <p:nvPicPr>
          <p:cNvPr id="13" name="Segnaposto contenuto 12" descr="Immagine che contiene quadrato, numero&#10;&#10;Il contenuto generato dall'IA potrebbe non essere corretto.">
            <a:extLst>
              <a:ext uri="{FF2B5EF4-FFF2-40B4-BE49-F238E27FC236}">
                <a16:creationId xmlns:a16="http://schemas.microsoft.com/office/drawing/2014/main" id="{BA2C5FBF-2501-A16D-6626-30DCD42AA2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" t="3017" r="3187" b="2370"/>
          <a:stretch>
            <a:fillRect/>
          </a:stretch>
        </p:blipFill>
        <p:spPr>
          <a:xfrm>
            <a:off x="887240" y="2978590"/>
            <a:ext cx="2960483" cy="2942376"/>
          </a:xfrm>
        </p:spPr>
      </p:pic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3E552F37-1E08-F535-E16E-7333D064F062}"/>
              </a:ext>
            </a:extLst>
          </p:cNvPr>
          <p:cNvSpPr txBox="1">
            <a:spLocks/>
          </p:cNvSpPr>
          <p:nvPr/>
        </p:nvSpPr>
        <p:spPr>
          <a:xfrm>
            <a:off x="4071836" y="2884764"/>
            <a:ext cx="8038649" cy="310991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800" dirty="0"/>
              <a:t>A* e IDA* terminano ottenendo il medesimo risultato, ma con tempistiche diverse. Qui A* impiega 7,26 secondi per terminare, mentre IDA* meno di un secondo.</a:t>
            </a:r>
          </a:p>
          <a:p>
            <a:pPr algn="l"/>
            <a:endParaRPr lang="it-IT" sz="1800" dirty="0"/>
          </a:p>
          <a:p>
            <a:pPr algn="l"/>
            <a:r>
              <a:rPr lang="it-IT" sz="1600" dirty="0"/>
              <a:t>Soluzione:</a:t>
            </a:r>
          </a:p>
          <a:p>
            <a:pPr algn="l"/>
            <a:r>
              <a:rPr lang="fr-FR" sz="1600" dirty="0"/>
              <a:t>[[[</a:t>
            </a:r>
            <a:r>
              <a:rPr lang="fr-FR" sz="1600" dirty="0" err="1"/>
              <a:t>start,pos</a:t>
            </a:r>
            <a:r>
              <a:rPr lang="fr-FR" sz="1600" dirty="0"/>
              <a:t>(1,2)]],[</a:t>
            </a:r>
            <a:r>
              <a:rPr lang="fr-FR" sz="1600" dirty="0" err="1"/>
              <a:t>sud,pos</a:t>
            </a:r>
            <a:r>
              <a:rPr lang="fr-FR" sz="1600" dirty="0"/>
              <a:t>(2,2)],[</a:t>
            </a:r>
            <a:r>
              <a:rPr lang="fr-FR" sz="1600" dirty="0" err="1"/>
              <a:t>sud,pos</a:t>
            </a:r>
            <a:r>
              <a:rPr lang="fr-FR" sz="1600" dirty="0"/>
              <a:t>(3,2)],[</a:t>
            </a:r>
            <a:r>
              <a:rPr lang="fr-FR" sz="1600" dirty="0" err="1"/>
              <a:t>est,pos</a:t>
            </a:r>
            <a:r>
              <a:rPr lang="fr-FR" sz="1600" dirty="0"/>
              <a:t>(3,3)],[</a:t>
            </a:r>
            <a:r>
              <a:rPr lang="fr-FR" sz="1600" dirty="0" err="1"/>
              <a:t>nord,pos</a:t>
            </a:r>
            <a:r>
              <a:rPr lang="fr-FR" sz="1600" dirty="0"/>
              <a:t>(2,3)],[</a:t>
            </a:r>
            <a:r>
              <a:rPr lang="fr-FR" sz="1600" dirty="0" err="1"/>
              <a:t>ovest,pos</a:t>
            </a:r>
            <a:r>
              <a:rPr lang="fr-FR" sz="1600" dirty="0"/>
              <a:t>(2,2)],[</a:t>
            </a:r>
            <a:r>
              <a:rPr lang="fr-FR" sz="1600" dirty="0" err="1"/>
              <a:t>sud,pos</a:t>
            </a:r>
            <a:r>
              <a:rPr lang="fr-FR" sz="1600" dirty="0"/>
              <a:t>(3,2)],[</a:t>
            </a:r>
            <a:r>
              <a:rPr lang="fr-FR" sz="1600" dirty="0" err="1"/>
              <a:t>ovest,pos</a:t>
            </a:r>
            <a:r>
              <a:rPr lang="fr-FR" sz="1600" dirty="0"/>
              <a:t>(3,1)],[</a:t>
            </a:r>
            <a:r>
              <a:rPr lang="fr-FR" sz="1600" dirty="0" err="1"/>
              <a:t>nord,pos</a:t>
            </a:r>
            <a:r>
              <a:rPr lang="fr-FR" sz="1600" dirty="0"/>
              <a:t>(2,1)],[</a:t>
            </a:r>
            <a:r>
              <a:rPr lang="fr-FR" sz="1600" dirty="0" err="1"/>
              <a:t>nord,pos</a:t>
            </a:r>
            <a:r>
              <a:rPr lang="fr-FR" sz="1600" dirty="0"/>
              <a:t>(1,1)],[</a:t>
            </a:r>
            <a:r>
              <a:rPr lang="fr-FR" sz="1600" dirty="0" err="1"/>
              <a:t>est,pos</a:t>
            </a:r>
            <a:r>
              <a:rPr lang="fr-FR" sz="1600" dirty="0"/>
              <a:t>(1,2)],[</a:t>
            </a:r>
            <a:r>
              <a:rPr lang="fr-FR" sz="1600" dirty="0" err="1"/>
              <a:t>est,pos</a:t>
            </a:r>
            <a:r>
              <a:rPr lang="fr-FR" sz="1600" dirty="0"/>
              <a:t>(1,3)],[</a:t>
            </a:r>
            <a:r>
              <a:rPr lang="fr-FR" sz="1600" dirty="0" err="1"/>
              <a:t>sud,pos</a:t>
            </a:r>
            <a:r>
              <a:rPr lang="fr-FR" sz="1600" dirty="0"/>
              <a:t>(2,3)],[</a:t>
            </a:r>
            <a:r>
              <a:rPr lang="fr-FR" sz="1600" dirty="0" err="1"/>
              <a:t>sud,pos</a:t>
            </a:r>
            <a:r>
              <a:rPr lang="fr-FR" sz="1600" dirty="0"/>
              <a:t>(3,3)]]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134834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CBE1-969D-F3C5-149B-A19B2D8A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825C47-CC2A-3E60-C48D-E8355180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000" dirty="0" err="1"/>
              <a:t>Prolog</a:t>
            </a:r>
            <a:r>
              <a:rPr lang="it-IT" sz="4000" dirty="0"/>
              <a:t> – Gioco del 8 </a:t>
            </a:r>
            <a:br>
              <a:rPr lang="it-IT" dirty="0"/>
            </a:br>
            <a:r>
              <a:rPr lang="it-IT" sz="2800" dirty="0"/>
              <a:t>A* VS IDA*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C2D424-2E51-3BB5-79BD-DB9E12887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10567270" cy="576262"/>
          </a:xfrm>
        </p:spPr>
        <p:txBody>
          <a:bodyPr/>
          <a:lstStyle/>
          <a:p>
            <a:r>
              <a:rPr lang="it-IT" sz="1800" dirty="0"/>
              <a:t>Facendo ulteriori test possiamo vedere che aumentando il numero di mosse solamente a 14, si po’ trovare un ulteriore limite.</a:t>
            </a:r>
          </a:p>
        </p:txBody>
      </p:sp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A266F072-6BAF-6137-3920-6514FA7D6D6D}"/>
              </a:ext>
            </a:extLst>
          </p:cNvPr>
          <p:cNvSpPr txBox="1">
            <a:spLocks/>
          </p:cNvSpPr>
          <p:nvPr/>
        </p:nvSpPr>
        <p:spPr>
          <a:xfrm>
            <a:off x="4071836" y="2884764"/>
            <a:ext cx="8038649" cy="310991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800" dirty="0"/>
              <a:t>IDA* termina con tempistiche simili alle precedenti, mentre A* non termina a causa di mancanza di memoria disponibile.</a:t>
            </a:r>
          </a:p>
          <a:p>
            <a:pPr algn="l"/>
            <a:r>
              <a:rPr lang="it-IT" sz="1800" dirty="0"/>
              <a:t>La memoria base di </a:t>
            </a:r>
            <a:r>
              <a:rPr lang="it-IT" sz="1800" dirty="0" err="1"/>
              <a:t>Prolog</a:t>
            </a:r>
            <a:r>
              <a:rPr lang="it-IT" sz="1800" dirty="0"/>
              <a:t> (1 giga) non basta, infatti a terminare la ricerca con A*,  rendendo necessario l’incremento a 2 giga</a:t>
            </a:r>
          </a:p>
          <a:p>
            <a:pPr algn="l"/>
            <a:endParaRPr lang="it-IT" sz="1800" dirty="0"/>
          </a:p>
          <a:p>
            <a:pPr algn="l"/>
            <a:r>
              <a:rPr lang="it-IT" sz="1600" dirty="0"/>
              <a:t>Soluzione: </a:t>
            </a:r>
            <a:r>
              <a:rPr lang="fr-FR" sz="1600" dirty="0"/>
              <a:t>[[[</a:t>
            </a:r>
            <a:r>
              <a:rPr lang="fr-FR" sz="1600" dirty="0" err="1"/>
              <a:t>start,pos</a:t>
            </a:r>
            <a:r>
              <a:rPr lang="fr-FR" sz="1600" dirty="0"/>
              <a:t>(1,1)]],[</a:t>
            </a:r>
            <a:r>
              <a:rPr lang="fr-FR" sz="1600" dirty="0" err="1"/>
              <a:t>est,pos</a:t>
            </a:r>
            <a:r>
              <a:rPr lang="fr-FR" sz="1600" dirty="0"/>
              <a:t>(1,2)],[</a:t>
            </a:r>
            <a:r>
              <a:rPr lang="fr-FR" sz="1600" dirty="0" err="1"/>
              <a:t>sud,pos</a:t>
            </a:r>
            <a:r>
              <a:rPr lang="fr-FR" sz="1600" dirty="0"/>
              <a:t>(2,2)],[</a:t>
            </a:r>
            <a:r>
              <a:rPr lang="fr-FR" sz="1600" dirty="0" err="1"/>
              <a:t>sud,pos</a:t>
            </a:r>
            <a:r>
              <a:rPr lang="fr-FR" sz="1600" dirty="0"/>
              <a:t>(3,2)],[</a:t>
            </a:r>
            <a:r>
              <a:rPr lang="fr-FR" sz="1600" dirty="0" err="1"/>
              <a:t>est,pos</a:t>
            </a:r>
            <a:r>
              <a:rPr lang="fr-FR" sz="1600" dirty="0"/>
              <a:t>(3,3)],[</a:t>
            </a:r>
            <a:r>
              <a:rPr lang="fr-FR" sz="1600" dirty="0" err="1"/>
              <a:t>nord,pos</a:t>
            </a:r>
            <a:r>
              <a:rPr lang="fr-FR" sz="1600" dirty="0"/>
              <a:t>(2,3)],[</a:t>
            </a:r>
            <a:r>
              <a:rPr lang="fr-FR" sz="1600" dirty="0" err="1"/>
              <a:t>ovest,pos</a:t>
            </a:r>
            <a:r>
              <a:rPr lang="fr-FR" sz="1600" dirty="0"/>
              <a:t>(2,2)],[</a:t>
            </a:r>
            <a:r>
              <a:rPr lang="fr-FR" sz="1600" dirty="0" err="1"/>
              <a:t>sud,pos</a:t>
            </a:r>
            <a:r>
              <a:rPr lang="fr-FR" sz="1600" dirty="0"/>
              <a:t>(3,2)],[</a:t>
            </a:r>
            <a:r>
              <a:rPr lang="fr-FR" sz="1600" dirty="0" err="1"/>
              <a:t>ovest,pos</a:t>
            </a:r>
            <a:r>
              <a:rPr lang="fr-FR" sz="1600" dirty="0"/>
              <a:t>(3,1)],[</a:t>
            </a:r>
            <a:r>
              <a:rPr lang="fr-FR" sz="1600" dirty="0" err="1"/>
              <a:t>nord,pos</a:t>
            </a:r>
            <a:r>
              <a:rPr lang="fr-FR" sz="1600" dirty="0"/>
              <a:t>(2,1)],[</a:t>
            </a:r>
            <a:r>
              <a:rPr lang="fr-FR" sz="1600" dirty="0" err="1"/>
              <a:t>nord,pos</a:t>
            </a:r>
            <a:r>
              <a:rPr lang="fr-FR" sz="1600" dirty="0"/>
              <a:t>(1,1)],[</a:t>
            </a:r>
            <a:r>
              <a:rPr lang="fr-FR" sz="1600" dirty="0" err="1"/>
              <a:t>est,pos</a:t>
            </a:r>
            <a:r>
              <a:rPr lang="fr-FR" sz="1600" dirty="0"/>
              <a:t>(1,2)],[</a:t>
            </a:r>
            <a:r>
              <a:rPr lang="fr-FR" sz="1600" dirty="0" err="1"/>
              <a:t>est,pos</a:t>
            </a:r>
            <a:r>
              <a:rPr lang="fr-FR" sz="1600" dirty="0"/>
              <a:t>(1,3)],[</a:t>
            </a:r>
            <a:r>
              <a:rPr lang="fr-FR" sz="1600" dirty="0" err="1"/>
              <a:t>sud,pos</a:t>
            </a:r>
            <a:r>
              <a:rPr lang="fr-FR" sz="1600" dirty="0"/>
              <a:t>(2,3)],[</a:t>
            </a:r>
            <a:r>
              <a:rPr lang="fr-FR" sz="1600" dirty="0" err="1"/>
              <a:t>sud,pos</a:t>
            </a:r>
            <a:r>
              <a:rPr lang="fr-FR" sz="1600" dirty="0"/>
              <a:t>(3,3)]]</a:t>
            </a:r>
            <a:endParaRPr lang="it-IT" sz="1600" dirty="0"/>
          </a:p>
        </p:txBody>
      </p:sp>
      <p:pic>
        <p:nvPicPr>
          <p:cNvPr id="7" name="Segnaposto contenuto 6" descr="Immagine che contiene quadrato, numero&#10;&#10;Il contenuto generato dall'IA potrebbe non essere corretto.">
            <a:extLst>
              <a:ext uri="{FF2B5EF4-FFF2-40B4-BE49-F238E27FC236}">
                <a16:creationId xmlns:a16="http://schemas.microsoft.com/office/drawing/2014/main" id="{AE28DD37-D450-A2B4-6181-AD554EF291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" t="2435" r="3270" b="3535"/>
          <a:stretch>
            <a:fillRect/>
          </a:stretch>
        </p:blipFill>
        <p:spPr>
          <a:xfrm>
            <a:off x="878185" y="2960482"/>
            <a:ext cx="2942377" cy="2924269"/>
          </a:xfrm>
        </p:spPr>
      </p:pic>
    </p:spTree>
    <p:extLst>
      <p:ext uri="{BB962C8B-B14F-4D97-AF65-F5344CB8AC3E}">
        <p14:creationId xmlns:p14="http://schemas.microsoft.com/office/powerpoint/2010/main" val="382703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0FE5-C02F-00BE-FBC1-0A831A4C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0F9A60-C75C-46CB-0803-7DEC16D1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000" dirty="0" err="1"/>
              <a:t>Prolog</a:t>
            </a:r>
            <a:r>
              <a:rPr lang="it-IT" sz="4000" dirty="0"/>
              <a:t> – Gioco del 8 </a:t>
            </a:r>
            <a:br>
              <a:rPr lang="it-IT" dirty="0"/>
            </a:br>
            <a:r>
              <a:rPr lang="it-IT" sz="2800" dirty="0"/>
              <a:t>A* VS IDA*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905D68F-5D67-64DC-07B7-12E694CAF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10567270" cy="576262"/>
          </a:xfrm>
        </p:spPr>
        <p:txBody>
          <a:bodyPr/>
          <a:lstStyle/>
          <a:p>
            <a:r>
              <a:rPr lang="it-IT" sz="1800" dirty="0"/>
              <a:t>Ovviamente, aumentando il numero di mosse, sarà necessario aumentare anche il numero di giga disponibili per A*. In questo esempio da 17 mosse</a:t>
            </a:r>
          </a:p>
        </p:txBody>
      </p:sp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B1350DF4-5B15-8D5E-7E9A-A8AC77AA5151}"/>
              </a:ext>
            </a:extLst>
          </p:cNvPr>
          <p:cNvSpPr txBox="1">
            <a:spLocks/>
          </p:cNvSpPr>
          <p:nvPr/>
        </p:nvSpPr>
        <p:spPr>
          <a:xfrm>
            <a:off x="4071836" y="2884764"/>
            <a:ext cx="8038649" cy="310991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800" dirty="0"/>
              <a:t>IDA* termina 1,68 secondi, mantenendo una memoria di solo 1 giga.</a:t>
            </a:r>
          </a:p>
          <a:p>
            <a:pPr algn="l"/>
            <a:r>
              <a:rPr lang="it-IT" sz="1800" dirty="0"/>
              <a:t>A* non riesce a terminare anche con 3 giga di memoria disponibile</a:t>
            </a:r>
          </a:p>
          <a:p>
            <a:pPr algn="l"/>
            <a:endParaRPr lang="it-IT" sz="1800" dirty="0"/>
          </a:p>
          <a:p>
            <a:pPr algn="l"/>
            <a:r>
              <a:rPr lang="it-IT" sz="1600" dirty="0"/>
              <a:t>Soluzione:</a:t>
            </a:r>
          </a:p>
          <a:p>
            <a:pPr algn="l"/>
            <a:r>
              <a:rPr lang="fr-FR" sz="1600" dirty="0"/>
              <a:t>[[</a:t>
            </a:r>
            <a:r>
              <a:rPr lang="fr-FR" sz="1600" dirty="0" err="1"/>
              <a:t>start,pos</a:t>
            </a:r>
            <a:r>
              <a:rPr lang="fr-FR" sz="1600" dirty="0"/>
              <a:t>(2,1)],[</a:t>
            </a:r>
            <a:r>
              <a:rPr lang="fr-FR" sz="1600" dirty="0" err="1"/>
              <a:t>est,pos</a:t>
            </a:r>
            <a:r>
              <a:rPr lang="fr-FR" sz="1600" dirty="0"/>
              <a:t>(2,2)],[</a:t>
            </a:r>
            <a:r>
              <a:rPr lang="fr-FR" sz="1600" dirty="0" err="1"/>
              <a:t>sud,pos</a:t>
            </a:r>
            <a:r>
              <a:rPr lang="fr-FR" sz="1600" dirty="0"/>
              <a:t>(3,2)],[</a:t>
            </a:r>
            <a:r>
              <a:rPr lang="fr-FR" sz="1600" dirty="0" err="1"/>
              <a:t>est,pos</a:t>
            </a:r>
            <a:r>
              <a:rPr lang="fr-FR" sz="1600" dirty="0"/>
              <a:t>(3,3)],[</a:t>
            </a:r>
            <a:r>
              <a:rPr lang="fr-FR" sz="1600" dirty="0" err="1"/>
              <a:t>nord,pos</a:t>
            </a:r>
            <a:r>
              <a:rPr lang="fr-FR" sz="1600" dirty="0"/>
              <a:t>(2,3)],[</a:t>
            </a:r>
            <a:r>
              <a:rPr lang="fr-FR" sz="1600" dirty="0" err="1"/>
              <a:t>nord,pos</a:t>
            </a:r>
            <a:r>
              <a:rPr lang="fr-FR" sz="1600" dirty="0"/>
              <a:t>(1,3)],[</a:t>
            </a:r>
            <a:r>
              <a:rPr lang="fr-FR" sz="1600" dirty="0" err="1"/>
              <a:t>ovest,pos</a:t>
            </a:r>
            <a:r>
              <a:rPr lang="fr-FR" sz="1600" dirty="0"/>
              <a:t>(1,2)],[</a:t>
            </a:r>
            <a:r>
              <a:rPr lang="fr-FR" sz="1600" dirty="0" err="1"/>
              <a:t>ovest,pos</a:t>
            </a:r>
            <a:r>
              <a:rPr lang="fr-FR" sz="1600" dirty="0"/>
              <a:t>(1,1)],[</a:t>
            </a:r>
            <a:r>
              <a:rPr lang="fr-FR" sz="1600" dirty="0" err="1"/>
              <a:t>sud,pos</a:t>
            </a:r>
            <a:r>
              <a:rPr lang="fr-FR" sz="1600" dirty="0"/>
              <a:t>(2,1)],[</a:t>
            </a:r>
            <a:r>
              <a:rPr lang="fr-FR" sz="1600" dirty="0" err="1"/>
              <a:t>sud,pos</a:t>
            </a:r>
            <a:r>
              <a:rPr lang="fr-FR" sz="1600" dirty="0"/>
              <a:t>(3,1)],[</a:t>
            </a:r>
            <a:r>
              <a:rPr lang="fr-FR" sz="1600" dirty="0" err="1"/>
              <a:t>est,pos</a:t>
            </a:r>
            <a:r>
              <a:rPr lang="fr-FR" sz="1600" dirty="0"/>
              <a:t>(3,2)],[</a:t>
            </a:r>
            <a:r>
              <a:rPr lang="fr-FR" sz="1600" dirty="0" err="1"/>
              <a:t>nord,pos</a:t>
            </a:r>
            <a:r>
              <a:rPr lang="fr-FR" sz="1600" dirty="0"/>
              <a:t>(2,2)],[</a:t>
            </a:r>
            <a:r>
              <a:rPr lang="fr-FR" sz="1600" dirty="0" err="1"/>
              <a:t>est,pos</a:t>
            </a:r>
            <a:r>
              <a:rPr lang="fr-FR" sz="1600" dirty="0"/>
              <a:t>(2,3)],[</a:t>
            </a:r>
            <a:r>
              <a:rPr lang="fr-FR" sz="1600" dirty="0" err="1"/>
              <a:t>nord,pos</a:t>
            </a:r>
            <a:r>
              <a:rPr lang="fr-FR" sz="1600" dirty="0"/>
              <a:t>(1,3)],[</a:t>
            </a:r>
            <a:r>
              <a:rPr lang="fr-FR" sz="1600" dirty="0" err="1"/>
              <a:t>ovest,pos</a:t>
            </a:r>
            <a:r>
              <a:rPr lang="fr-FR" sz="1600" dirty="0"/>
              <a:t>(1,2)],[</a:t>
            </a:r>
            <a:r>
              <a:rPr lang="fr-FR" sz="1600" dirty="0" err="1"/>
              <a:t>sud,pos</a:t>
            </a:r>
            <a:r>
              <a:rPr lang="fr-FR" sz="1600" dirty="0"/>
              <a:t>(2,2)],[</a:t>
            </a:r>
            <a:r>
              <a:rPr lang="fr-FR" sz="1600" dirty="0" err="1"/>
              <a:t>sud,pos</a:t>
            </a:r>
            <a:r>
              <a:rPr lang="fr-FR" sz="1600" dirty="0"/>
              <a:t>(3,2)],[</a:t>
            </a:r>
            <a:r>
              <a:rPr lang="fr-FR" sz="1600" dirty="0" err="1"/>
              <a:t>est,pos</a:t>
            </a:r>
            <a:r>
              <a:rPr lang="fr-FR" sz="1600" dirty="0"/>
              <a:t>(3,3)]]</a:t>
            </a:r>
            <a:endParaRPr lang="it-IT" sz="1600" dirty="0"/>
          </a:p>
        </p:txBody>
      </p:sp>
      <p:pic>
        <p:nvPicPr>
          <p:cNvPr id="8" name="Segnaposto contenuto 7" descr="Immagine che contiene quadrato&#10;&#10;Il contenuto generato dall'IA potrebbe non essere corretto.">
            <a:extLst>
              <a:ext uri="{FF2B5EF4-FFF2-40B4-BE49-F238E27FC236}">
                <a16:creationId xmlns:a16="http://schemas.microsoft.com/office/drawing/2014/main" id="{7CB58673-E226-55B4-4D7A-143B0865AE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6" r="2872"/>
          <a:stretch>
            <a:fillRect/>
          </a:stretch>
        </p:blipFill>
        <p:spPr>
          <a:xfrm>
            <a:off x="810000" y="3134058"/>
            <a:ext cx="3073938" cy="3109912"/>
          </a:xfrm>
        </p:spPr>
      </p:pic>
    </p:spTree>
    <p:extLst>
      <p:ext uri="{BB962C8B-B14F-4D97-AF65-F5344CB8AC3E}">
        <p14:creationId xmlns:p14="http://schemas.microsoft.com/office/powerpoint/2010/main" val="225168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6660-FABC-2350-CBFC-6AAF981A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1B931E-75EB-A739-95E0-C0A555FD7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000" dirty="0" err="1"/>
              <a:t>Prolog</a:t>
            </a:r>
            <a:r>
              <a:rPr lang="it-IT" sz="4000" dirty="0"/>
              <a:t> – Gioco del 8 </a:t>
            </a:r>
            <a:br>
              <a:rPr lang="it-IT" dirty="0"/>
            </a:br>
            <a:r>
              <a:rPr lang="it-IT" sz="2800" dirty="0"/>
              <a:t>A* VS IDA*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CBA0D42-0666-D0FB-92D1-836645E32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10567270" cy="576262"/>
          </a:xfrm>
        </p:spPr>
        <p:txBody>
          <a:bodyPr/>
          <a:lstStyle/>
          <a:p>
            <a:r>
              <a:rPr lang="it-IT" sz="1800" dirty="0"/>
              <a:t>Utilizzando l’esempio del professore presente sulla consegna del progetto</a:t>
            </a:r>
          </a:p>
        </p:txBody>
      </p:sp>
      <p:sp>
        <p:nvSpPr>
          <p:cNvPr id="18" name="Segnaposto testo 2">
            <a:extLst>
              <a:ext uri="{FF2B5EF4-FFF2-40B4-BE49-F238E27FC236}">
                <a16:creationId xmlns:a16="http://schemas.microsoft.com/office/drawing/2014/main" id="{2D51F40D-4F34-8948-EE46-AE83F58E7543}"/>
              </a:ext>
            </a:extLst>
          </p:cNvPr>
          <p:cNvSpPr txBox="1">
            <a:spLocks/>
          </p:cNvSpPr>
          <p:nvPr/>
        </p:nvSpPr>
        <p:spPr>
          <a:xfrm>
            <a:off x="4071836" y="2884764"/>
            <a:ext cx="8038649" cy="310991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1800" dirty="0"/>
              <a:t>IDA* termina 1,74 secondi, mantenendo una memoria di solo 1 giga.</a:t>
            </a:r>
          </a:p>
          <a:p>
            <a:pPr algn="l"/>
            <a:r>
              <a:rPr lang="it-IT" sz="1800" dirty="0"/>
              <a:t>A* non riesce a terminare anche con 5 giga di memoria disponibile</a:t>
            </a:r>
          </a:p>
          <a:p>
            <a:pPr algn="l"/>
            <a:endParaRPr lang="it-IT" sz="1800" dirty="0"/>
          </a:p>
          <a:p>
            <a:pPr algn="l"/>
            <a:r>
              <a:rPr lang="it-IT" sz="1600" dirty="0"/>
              <a:t>Soluzione:</a:t>
            </a:r>
          </a:p>
          <a:p>
            <a:pPr algn="l"/>
            <a:r>
              <a:rPr lang="fr-FR" sz="1600" dirty="0"/>
              <a:t>[[</a:t>
            </a:r>
            <a:r>
              <a:rPr lang="fr-FR" sz="1600" dirty="0" err="1"/>
              <a:t>start,pos</a:t>
            </a:r>
            <a:r>
              <a:rPr lang="fr-FR" sz="1600" dirty="0"/>
              <a:t>(2,2)],[</a:t>
            </a:r>
            <a:r>
              <a:rPr lang="fr-FR" sz="1600" dirty="0" err="1"/>
              <a:t>sud,pos</a:t>
            </a:r>
            <a:r>
              <a:rPr lang="fr-FR" sz="1600" dirty="0"/>
              <a:t>(3,2)],[</a:t>
            </a:r>
            <a:r>
              <a:rPr lang="fr-FR" sz="1600" dirty="0" err="1"/>
              <a:t>est,pos</a:t>
            </a:r>
            <a:r>
              <a:rPr lang="fr-FR" sz="1600" dirty="0"/>
              <a:t>(3,3)],[</a:t>
            </a:r>
            <a:r>
              <a:rPr lang="fr-FR" sz="1600" dirty="0" err="1"/>
              <a:t>nord,pos</a:t>
            </a:r>
            <a:r>
              <a:rPr lang="fr-FR" sz="1600" dirty="0"/>
              <a:t>(2,3)],[</a:t>
            </a:r>
            <a:r>
              <a:rPr lang="fr-FR" sz="1600" dirty="0" err="1"/>
              <a:t>ovest,pos</a:t>
            </a:r>
            <a:r>
              <a:rPr lang="fr-FR" sz="1600" dirty="0"/>
              <a:t>(2,2)],[</a:t>
            </a:r>
            <a:r>
              <a:rPr lang="fr-FR" sz="1600" dirty="0" err="1"/>
              <a:t>nord,pos</a:t>
            </a:r>
            <a:r>
              <a:rPr lang="fr-FR" sz="1600" dirty="0"/>
              <a:t>(1,2)],[</a:t>
            </a:r>
            <a:r>
              <a:rPr lang="fr-FR" sz="1600" dirty="0" err="1"/>
              <a:t>est,pos</a:t>
            </a:r>
            <a:r>
              <a:rPr lang="fr-FR" sz="1600" dirty="0"/>
              <a:t>(1,3)],[</a:t>
            </a:r>
            <a:r>
              <a:rPr lang="fr-FR" sz="1600" dirty="0" err="1"/>
              <a:t>sud,pos</a:t>
            </a:r>
            <a:r>
              <a:rPr lang="fr-FR" sz="1600" dirty="0"/>
              <a:t>(2,3)],[</a:t>
            </a:r>
            <a:r>
              <a:rPr lang="fr-FR" sz="1600" dirty="0" err="1"/>
              <a:t>ovest,pos</a:t>
            </a:r>
            <a:r>
              <a:rPr lang="fr-FR" sz="1600" dirty="0"/>
              <a:t>(2,2)],[</a:t>
            </a:r>
            <a:r>
              <a:rPr lang="fr-FR" sz="1600" dirty="0" err="1"/>
              <a:t>ovest,pos</a:t>
            </a:r>
            <a:r>
              <a:rPr lang="fr-FR" sz="1600" dirty="0"/>
              <a:t>(2,1)],[</a:t>
            </a:r>
            <a:r>
              <a:rPr lang="fr-FR" sz="1600" dirty="0" err="1"/>
              <a:t>nord,pos</a:t>
            </a:r>
            <a:r>
              <a:rPr lang="fr-FR" sz="1600" dirty="0"/>
              <a:t>(1,1)],[</a:t>
            </a:r>
            <a:r>
              <a:rPr lang="fr-FR" sz="1600" dirty="0" err="1"/>
              <a:t>est,pos</a:t>
            </a:r>
            <a:r>
              <a:rPr lang="fr-FR" sz="1600" dirty="0"/>
              <a:t>(1,2)],[</a:t>
            </a:r>
            <a:r>
              <a:rPr lang="fr-FR" sz="1600" dirty="0" err="1"/>
              <a:t>sud,pos</a:t>
            </a:r>
            <a:r>
              <a:rPr lang="fr-FR" sz="1600" dirty="0"/>
              <a:t>(2,2)],[</a:t>
            </a:r>
            <a:r>
              <a:rPr lang="fr-FR" sz="1600" dirty="0" err="1"/>
              <a:t>sud,pos</a:t>
            </a:r>
            <a:r>
              <a:rPr lang="fr-FR" sz="1600" dirty="0"/>
              <a:t>(3,2)],[</a:t>
            </a:r>
            <a:r>
              <a:rPr lang="fr-FR" sz="1600" dirty="0" err="1"/>
              <a:t>ovest,pos</a:t>
            </a:r>
            <a:r>
              <a:rPr lang="fr-FR" sz="1600" dirty="0"/>
              <a:t>(3,1)],[</a:t>
            </a:r>
            <a:r>
              <a:rPr lang="fr-FR" sz="1600" dirty="0" err="1"/>
              <a:t>nord,pos</a:t>
            </a:r>
            <a:r>
              <a:rPr lang="fr-FR" sz="1600" dirty="0"/>
              <a:t>(2,1)],[</a:t>
            </a:r>
            <a:r>
              <a:rPr lang="fr-FR" sz="1600" dirty="0" err="1"/>
              <a:t>est,pos</a:t>
            </a:r>
            <a:r>
              <a:rPr lang="fr-FR" sz="1600" dirty="0"/>
              <a:t>(2,2)],[</a:t>
            </a:r>
            <a:r>
              <a:rPr lang="fr-FR" sz="1600" dirty="0" err="1"/>
              <a:t>nord,pos</a:t>
            </a:r>
            <a:r>
              <a:rPr lang="fr-FR" sz="1600" dirty="0"/>
              <a:t>(1,2)],[</a:t>
            </a:r>
            <a:r>
              <a:rPr lang="fr-FR" sz="1600" dirty="0" err="1"/>
              <a:t>est,pos</a:t>
            </a:r>
            <a:r>
              <a:rPr lang="fr-FR" sz="1600" dirty="0"/>
              <a:t>(1,3)],[</a:t>
            </a:r>
            <a:r>
              <a:rPr lang="fr-FR" sz="1600" dirty="0" err="1"/>
              <a:t>sud,pos</a:t>
            </a:r>
            <a:r>
              <a:rPr lang="fr-FR" sz="1600" dirty="0"/>
              <a:t>(2,3)],[</a:t>
            </a:r>
            <a:r>
              <a:rPr lang="fr-FR" sz="1600" dirty="0" err="1"/>
              <a:t>sud,pos</a:t>
            </a:r>
            <a:r>
              <a:rPr lang="fr-FR" sz="1600" dirty="0"/>
              <a:t>(3,3)]]</a:t>
            </a:r>
            <a:endParaRPr lang="it-IT" sz="1600" dirty="0"/>
          </a:p>
        </p:txBody>
      </p:sp>
      <p:pic>
        <p:nvPicPr>
          <p:cNvPr id="7" name="Segnaposto contenuto 6" descr="Immagine che contiene quadrato, numero&#10;&#10;Il contenuto generato dall'IA potrebbe non essere corretto.">
            <a:extLst>
              <a:ext uri="{FF2B5EF4-FFF2-40B4-BE49-F238E27FC236}">
                <a16:creationId xmlns:a16="http://schemas.microsoft.com/office/drawing/2014/main" id="{6FFD5D42-74D6-2796-F262-39D8C91921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0" y="3059482"/>
            <a:ext cx="3083186" cy="3109912"/>
          </a:xfrm>
        </p:spPr>
      </p:pic>
    </p:spTree>
    <p:extLst>
      <p:ext uri="{BB962C8B-B14F-4D97-AF65-F5344CB8AC3E}">
        <p14:creationId xmlns:p14="http://schemas.microsoft.com/office/powerpoint/2010/main" val="2088307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25D6-CE8A-1D24-F211-E9873F5C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1D9959-A7CE-90D0-C99B-4F375CC7D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Risultati e Conclusioni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D662DC-86F9-B6C4-1992-0129C5D28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728" y="2285090"/>
            <a:ext cx="5189857" cy="576262"/>
          </a:xfrm>
        </p:spPr>
        <p:txBody>
          <a:bodyPr/>
          <a:lstStyle/>
          <a:p>
            <a:r>
              <a:rPr lang="it-IT" sz="3200" b="1" dirty="0"/>
              <a:t>A*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183A0BB-4DD9-9956-6FD9-8910946A6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4729" y="2861352"/>
            <a:ext cx="5189856" cy="33980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/>
              <a:t>Vantaggi</a:t>
            </a:r>
          </a:p>
          <a:p>
            <a:r>
              <a:rPr lang="it-IT" dirty="0"/>
              <a:t>E’ più veloce</a:t>
            </a:r>
          </a:p>
          <a:p>
            <a:r>
              <a:rPr lang="it-IT" dirty="0"/>
              <a:t>Lavora bene con il labirinto, perché lo spazio degli stati è ridotto e può ignorare molti nodi nella ricerca in profondità</a:t>
            </a:r>
          </a:p>
          <a:p>
            <a:pPr marL="0" indent="0">
              <a:buNone/>
            </a:pPr>
            <a:r>
              <a:rPr lang="it-IT" dirty="0"/>
              <a:t>Svantaggi</a:t>
            </a:r>
          </a:p>
          <a:p>
            <a:r>
              <a:rPr lang="it-IT" dirty="0"/>
              <a:t>Utilizza molta memoria</a:t>
            </a:r>
          </a:p>
          <a:p>
            <a:r>
              <a:rPr lang="it-IT" dirty="0"/>
              <a:t>Lavora male con il gioco del 8, perché la spazio degli stati è elevato, quindi incorre in problemi dell’utilizzo della memoria.</a:t>
            </a:r>
          </a:p>
          <a:p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1209BC1-C186-6FF9-BD5C-7A87142B7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2689" y="2288188"/>
            <a:ext cx="5194583" cy="576262"/>
          </a:xfrm>
        </p:spPr>
        <p:txBody>
          <a:bodyPr/>
          <a:lstStyle/>
          <a:p>
            <a:r>
              <a:rPr lang="it-IT" sz="3200" b="1" dirty="0"/>
              <a:t>IDA*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77E134F-BD51-D620-D86B-105EA601B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7415" y="2909716"/>
            <a:ext cx="5194583" cy="33496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/>
              <a:t>Vantaggi</a:t>
            </a:r>
          </a:p>
          <a:p>
            <a:r>
              <a:rPr lang="it-IT" dirty="0"/>
              <a:t>Utilizza poca memoria</a:t>
            </a:r>
          </a:p>
          <a:p>
            <a:r>
              <a:rPr lang="it-IT" dirty="0"/>
              <a:t>Lavora bene con il gioco del 8, perché grazie alla ricerca in profondità controllata dalla soglia, riesce a esplorare in modo mirato e sistematico tutti i figli</a:t>
            </a:r>
          </a:p>
          <a:p>
            <a:pPr marL="0" indent="0">
              <a:buNone/>
            </a:pPr>
            <a:r>
              <a:rPr lang="it-IT" dirty="0"/>
              <a:t>Svantaggi</a:t>
            </a:r>
          </a:p>
          <a:p>
            <a:r>
              <a:rPr lang="it-IT" dirty="0"/>
              <a:t>E’ più lento</a:t>
            </a:r>
          </a:p>
          <a:p>
            <a:r>
              <a:rPr lang="it-IT" dirty="0"/>
              <a:t>Lavora male con i labirinti, perché la bassa densità di ostacoli e soglie elevate portano all’analisi di percorsi inutili</a:t>
            </a:r>
          </a:p>
        </p:txBody>
      </p:sp>
    </p:spTree>
    <p:extLst>
      <p:ext uri="{BB962C8B-B14F-4D97-AF65-F5344CB8AC3E}">
        <p14:creationId xmlns:p14="http://schemas.microsoft.com/office/powerpoint/2010/main" val="2231511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9E10-441A-09B9-7C92-49440ECB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003CD7-B684-FFB1-3898-DC7EE9FEB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814" y="1449147"/>
            <a:ext cx="11504428" cy="2971051"/>
          </a:xfrm>
        </p:spPr>
        <p:txBody>
          <a:bodyPr/>
          <a:lstStyle/>
          <a:p>
            <a:r>
              <a:rPr lang="it-IT" dirty="0"/>
              <a:t>Progetto</a:t>
            </a:r>
            <a:br>
              <a:rPr lang="it-IT" sz="5000" dirty="0"/>
            </a:br>
            <a:r>
              <a:rPr lang="it-IT" sz="5000" dirty="0"/>
              <a:t>Intelligenza Artificiale E Laboratorio</a:t>
            </a:r>
            <a:br>
              <a:rPr lang="it-IT" sz="5000" dirty="0"/>
            </a:br>
            <a:r>
              <a:rPr lang="it-IT" sz="3200" dirty="0" err="1"/>
              <a:t>Clingo</a:t>
            </a:r>
            <a:endParaRPr lang="it-IT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19FB50-3D81-EB2A-3BCC-AB03C247B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424" y="223283"/>
            <a:ext cx="2071577" cy="255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839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6540EE-309B-E3C1-B977-975A9DF9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800" dirty="0"/>
              <a:t>Torneo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4A1947-C23F-B08A-5FF5-14A5E9D99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47277"/>
            <a:ext cx="10554574" cy="36365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it-IT" dirty="0"/>
          </a:p>
          <a:p>
            <a:r>
              <a:rPr lang="it-IT" dirty="0"/>
              <a:t>Scelte più salienti:</a:t>
            </a:r>
          </a:p>
          <a:p>
            <a:pPr lvl="1"/>
            <a:r>
              <a:rPr lang="it-IT" dirty="0"/>
              <a:t>Rappresentazione delle squadre:</a:t>
            </a:r>
            <a:br>
              <a:rPr lang="it-IT" dirty="0"/>
            </a:br>
            <a:r>
              <a:rPr lang="it-IT" sz="1800" kern="1200" dirty="0">
                <a:solidFill>
                  <a:srgbClr val="6089B4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squadra (</a:t>
            </a:r>
            <a:r>
              <a:rPr lang="it-IT" sz="1800" kern="1200" dirty="0" err="1">
                <a:solidFill>
                  <a:srgbClr val="6089B4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nomeSquadra</a:t>
            </a:r>
            <a:r>
              <a:rPr lang="it-IT" sz="1800" kern="1200" dirty="0">
                <a:solidFill>
                  <a:srgbClr val="6089B4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lang="it-IT" sz="1800" kern="1200" dirty="0" err="1">
                <a:solidFill>
                  <a:srgbClr val="6089B4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zonaSquadra</a:t>
            </a:r>
            <a:r>
              <a:rPr lang="it-IT" sz="1800" kern="1200" dirty="0">
                <a:solidFill>
                  <a:srgbClr val="6089B4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).</a:t>
            </a:r>
            <a:endParaRPr lang="it-IT" sz="1800" dirty="0">
              <a:effectLst/>
            </a:endParaRPr>
          </a:p>
          <a:p>
            <a:pPr lvl="1"/>
            <a:r>
              <a:rPr lang="it-IT" dirty="0"/>
              <a:t>Creazione di «sfidante» e di «sfida».</a:t>
            </a:r>
            <a:br>
              <a:rPr lang="it-IT" dirty="0"/>
            </a:br>
            <a:endParaRPr lang="it-IT" dirty="0"/>
          </a:p>
          <a:p>
            <a:r>
              <a:rPr lang="it-IT" dirty="0"/>
              <a:t>Difficoltà riscontrata:</a:t>
            </a:r>
          </a:p>
          <a:p>
            <a:pPr lvl="1"/>
            <a:r>
              <a:rPr lang="it-IT" dirty="0"/>
              <a:t>Problema sulla simmetria e risoluzione attraverso l’utilizzo dell’operatore: &lt;</a:t>
            </a:r>
          </a:p>
          <a:p>
            <a:pPr marL="457200" lvl="1" indent="0">
              <a:buNone/>
            </a:pPr>
            <a:endParaRPr lang="it-IT" dirty="0"/>
          </a:p>
          <a:p>
            <a:r>
              <a:rPr lang="it-IT" dirty="0"/>
              <a:t>Non abbiamo riscontrato problemi sulla tempistica.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0036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3055F0-4F4B-02DA-3E56-678704B1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Calendario Master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99E4E8-5FFC-2400-19F7-9CA4E1580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445954"/>
            <a:ext cx="10554574" cy="3636511"/>
          </a:xfrm>
        </p:spPr>
        <p:txBody>
          <a:bodyPr>
            <a:normAutofit/>
          </a:bodyPr>
          <a:lstStyle/>
          <a:p>
            <a:r>
              <a:rPr lang="it-IT" dirty="0"/>
              <a:t>Scelte più salienti:</a:t>
            </a:r>
          </a:p>
          <a:p>
            <a:pPr lvl="1"/>
            <a:r>
              <a:rPr lang="it-IT" dirty="0"/>
              <a:t>Assegnamento della lezione di un insegnamento al calendario (predicato </a:t>
            </a:r>
            <a:r>
              <a:rPr lang="it-IT" dirty="0">
                <a:solidFill>
                  <a:srgbClr val="6089B4"/>
                </a:solidFill>
                <a:latin typeface="Consolas" panose="020B0609020204030204" pitchFamily="49" charset="0"/>
              </a:rPr>
              <a:t>assegnamento</a:t>
            </a:r>
            <a:r>
              <a:rPr lang="it-IT" dirty="0"/>
              <a:t>);</a:t>
            </a:r>
            <a:endParaRPr lang="it-IT" sz="1400" dirty="0">
              <a:solidFill>
                <a:srgbClr val="6089B4"/>
              </a:solidFill>
              <a:latin typeface="Consolas" panose="020B0609020204030204" pitchFamily="49" charset="0"/>
            </a:endParaRPr>
          </a:p>
          <a:p>
            <a:pPr lvl="1"/>
            <a:r>
              <a:rPr lang="it-IT" dirty="0"/>
              <a:t>Determinare quando un insegnamento precede un altro insegnamento (predicato </a:t>
            </a:r>
            <a:r>
              <a:rPr lang="it-IT" dirty="0">
                <a:solidFill>
                  <a:srgbClr val="6089B4"/>
                </a:solidFill>
                <a:latin typeface="Consolas" panose="020B0609020204030204" pitchFamily="49" charset="0"/>
              </a:rPr>
              <a:t>precede</a:t>
            </a:r>
            <a:r>
              <a:rPr lang="it-IT" dirty="0"/>
              <a:t>).</a:t>
            </a:r>
            <a:br>
              <a:rPr lang="it-IT" dirty="0"/>
            </a:br>
            <a:endParaRPr lang="it-IT" dirty="0"/>
          </a:p>
          <a:p>
            <a:r>
              <a:rPr lang="it-IT" dirty="0"/>
              <a:t>Tempistiche:</a:t>
            </a:r>
          </a:p>
          <a:p>
            <a:pPr lvl="1"/>
            <a:r>
              <a:rPr lang="it-IT" dirty="0"/>
              <a:t>Il solver impiega un tempo lineare, rispetto al numero d’insegnamenti, per trovare un modello;</a:t>
            </a:r>
          </a:p>
          <a:p>
            <a:pPr lvl="2"/>
            <a:r>
              <a:rPr lang="it-IT" dirty="0"/>
              <a:t>Implementando tutti i vincoli, il solver trova un </a:t>
            </a:r>
            <a:r>
              <a:rPr lang="it-IT" dirty="0" err="1"/>
              <a:t>answer</a:t>
            </a:r>
            <a:r>
              <a:rPr lang="it-IT" dirty="0"/>
              <a:t> set in (circa) 20 secondi.</a:t>
            </a:r>
            <a:br>
              <a:rPr lang="it-IT" dirty="0"/>
            </a:br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224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85A57-94E6-0758-05BA-FBF35703C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83BBF6-1216-AD22-5456-AF9088CF4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814" y="1449147"/>
            <a:ext cx="11504428" cy="2971051"/>
          </a:xfrm>
        </p:spPr>
        <p:txBody>
          <a:bodyPr/>
          <a:lstStyle/>
          <a:p>
            <a:r>
              <a:rPr lang="it-IT" dirty="0"/>
              <a:t>Grazie per l’attenzione</a:t>
            </a:r>
            <a:endParaRPr lang="it-IT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F66599-95F1-9B97-D773-31403BB11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424" y="223283"/>
            <a:ext cx="2071577" cy="255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2299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zione">
  <a:themeElements>
    <a:clrScheme name="Citazion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Citazion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itazion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TM03457503[[fn=Citazione]]</Template>
  <TotalTime>0</TotalTime>
  <Words>1458</Words>
  <Application>Microsoft Office PowerPoint</Application>
  <PresentationFormat>Widescreen</PresentationFormat>
  <Paragraphs>109</Paragraphs>
  <Slides>18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Aptos</vt:lpstr>
      <vt:lpstr>Century Gothic</vt:lpstr>
      <vt:lpstr>Consolas</vt:lpstr>
      <vt:lpstr>Wingdings 2</vt:lpstr>
      <vt:lpstr>Citazione</vt:lpstr>
      <vt:lpstr>Progetto Intelligenza Artificiale E Laboratorio Prolog</vt:lpstr>
      <vt:lpstr>Scelte implementative – A*</vt:lpstr>
      <vt:lpstr>Scelte implementative – IDA*</vt:lpstr>
      <vt:lpstr>Scelte implementative - giochi</vt:lpstr>
      <vt:lpstr>Prolog – Labirinto  A* VS IDA*</vt:lpstr>
      <vt:lpstr>Prolog – Labirinto  A* VS IDA*</vt:lpstr>
      <vt:lpstr>Prolog – Labirinto  A* VS IDA*</vt:lpstr>
      <vt:lpstr>Prolog – Labirinto  A* VS IDA*</vt:lpstr>
      <vt:lpstr>Prolog – Labirinto  A* VS IDA*</vt:lpstr>
      <vt:lpstr>Prolog – Gioco del 8  A* VS IDA*</vt:lpstr>
      <vt:lpstr>Prolog – Gioco del 8  A* VS IDA*</vt:lpstr>
      <vt:lpstr>Prolog – Gioco del 8  A* VS IDA*</vt:lpstr>
      <vt:lpstr>Prolog – Gioco del 8  A* VS IDA*</vt:lpstr>
      <vt:lpstr>Risultati e Conclusioni</vt:lpstr>
      <vt:lpstr>Progetto Intelligenza Artificiale E Laboratorio Clingo</vt:lpstr>
      <vt:lpstr>Torneo</vt:lpstr>
      <vt:lpstr>Calendario Master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 Bono</dc:creator>
  <cp:lastModifiedBy>Giulia</cp:lastModifiedBy>
  <cp:revision>15</cp:revision>
  <dcterms:created xsi:type="dcterms:W3CDTF">2025-05-24T14:16:06Z</dcterms:created>
  <dcterms:modified xsi:type="dcterms:W3CDTF">2026-10-14T13:55:37Z</dcterms:modified>
</cp:coreProperties>
</file>