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BF5B48-03BD-44AB-AD7C-0B610B7DE681}">
  <a:tblStyle styleId="{A7BF5B48-03BD-44AB-AD7C-0B610B7DE6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d957eaefa_7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d957eaefa_7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d957eaefa_7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d957eaefa_7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d957eaefa_7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d957eaefa_7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d957eaefa_7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d957eaefa_7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d957eaefa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d957eaefa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d957eaefa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d957eaefa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d957eaefa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d957eaefa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d957eaefa_0_1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d957eaefa_0_1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d957eaefa_0_1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d957eaefa_0_1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d957eaefa_6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d957eaefa_6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1afe7ee1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1afe7ee1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52110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Progetto IA LAB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98100" y="2715951"/>
            <a:ext cx="8222100" cy="1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 dirty="0">
                <a:solidFill>
                  <a:schemeClr val="lt1"/>
                </a:solidFill>
              </a:rPr>
              <a:t>A cura di:</a:t>
            </a:r>
            <a:endParaRPr sz="1782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782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>
                <a:solidFill>
                  <a:schemeClr val="lt1"/>
                </a:solidFill>
              </a:rPr>
              <a:t>Bono Giulia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" sz="1782">
                <a:solidFill>
                  <a:schemeClr val="lt1"/>
                </a:solidFill>
              </a:rPr>
              <a:t>Francesco </a:t>
            </a:r>
            <a:r>
              <a:rPr lang="it" sz="1782" dirty="0">
                <a:solidFill>
                  <a:schemeClr val="lt1"/>
                </a:solidFill>
              </a:rPr>
              <a:t>F.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it-IT" sz="1782" dirty="0">
                <a:solidFill>
                  <a:schemeClr val="lt1"/>
                </a:solidFill>
              </a:rPr>
              <a:t>Federica L.</a:t>
            </a:r>
            <a:endParaRPr sz="1782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endParaRPr sz="1182" dirty="0"/>
          </a:p>
        </p:txBody>
      </p:sp>
      <p:sp>
        <p:nvSpPr>
          <p:cNvPr id="60" name="Google Shape;60;p13"/>
          <p:cNvSpPr txBox="1"/>
          <p:nvPr/>
        </p:nvSpPr>
        <p:spPr>
          <a:xfrm>
            <a:off x="485875" y="1958813"/>
            <a:ext cx="42213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300" b="1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Battaglia Navale</a:t>
            </a:r>
            <a:endParaRPr sz="2300" b="1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003" y="264475"/>
            <a:ext cx="1619197" cy="199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6467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Sans Pro"/>
                <a:ea typeface="Source Sans Pro"/>
                <a:cs typeface="Source Sans Pro"/>
                <a:sym typeface="Source Sans Pro"/>
              </a:rPr>
              <a:t>Introduzione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617925"/>
            <a:ext cx="8419500" cy="30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</a:rPr>
              <a:t>Per questa parte di progetto, abbiamo sviluppato due agenti: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-"/>
            </a:pPr>
            <a:r>
              <a:rPr lang="it" sz="1600">
                <a:solidFill>
                  <a:srgbClr val="000000"/>
                </a:solidFill>
              </a:rPr>
              <a:t>un primo agente, che </a:t>
            </a:r>
            <a:r>
              <a:rPr lang="it" sz="1600" b="1" i="1">
                <a:solidFill>
                  <a:srgbClr val="000000"/>
                </a:solidFill>
              </a:rPr>
              <a:t>fa uso di un ragionamento più avanzato e si basa su ciò che considera più promettente</a:t>
            </a:r>
            <a:r>
              <a:rPr lang="it" sz="1600">
                <a:solidFill>
                  <a:srgbClr val="000000"/>
                </a:solidFill>
              </a:rPr>
              <a:t> in base alle informazioni ottenute durante l’esecuzione, per la delibera delle azioni;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-"/>
            </a:pPr>
            <a:r>
              <a:rPr lang="it" sz="1600">
                <a:solidFill>
                  <a:srgbClr val="000000"/>
                </a:solidFill>
              </a:rPr>
              <a:t>un secondo agente, più primitivo, che </a:t>
            </a:r>
            <a:r>
              <a:rPr lang="it" sz="1600" b="1" i="1">
                <a:solidFill>
                  <a:srgbClr val="000000"/>
                </a:solidFill>
              </a:rPr>
              <a:t>fa uso delle informazioni sulle celle già note a priori</a:t>
            </a:r>
            <a:r>
              <a:rPr lang="it" sz="1600" b="1">
                <a:solidFill>
                  <a:srgbClr val="000000"/>
                </a:solidFill>
              </a:rPr>
              <a:t> </a:t>
            </a:r>
            <a:r>
              <a:rPr lang="it" sz="1600">
                <a:solidFill>
                  <a:srgbClr val="000000"/>
                </a:solidFill>
              </a:rPr>
              <a:t>(oltre ad altre informazioni ottenute durante l’esecuzione), per la delibera delle azioni.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Sans Pro"/>
                <a:ea typeface="Source Sans Pro"/>
                <a:cs typeface="Source Sans Pro"/>
                <a:sym typeface="Source Sans Pro"/>
              </a:rPr>
              <a:t>Caratteristiche in comune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175" y="371475"/>
            <a:ext cx="154305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836500" cy="3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</a:rPr>
              <a:t>Entrambi gli agenti hanno la loro esecuzione suddivisa nelle seguenti fasi:</a:t>
            </a:r>
            <a:endParaRPr sz="1600">
              <a:solidFill>
                <a:srgbClr val="000000"/>
              </a:solidFill>
            </a:endParaRPr>
          </a:p>
          <a:p>
            <a:pPr marL="457200" lvl="0" indent="-31496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it" sz="1600" b="1">
                <a:solidFill>
                  <a:srgbClr val="000000"/>
                </a:solidFill>
              </a:rPr>
              <a:t>AGENT</a:t>
            </a:r>
            <a:r>
              <a:rPr lang="it" sz="1600">
                <a:solidFill>
                  <a:srgbClr val="000000"/>
                </a:solidFill>
              </a:rPr>
              <a:t>, nel quale si effettua l’inizializzazione delle strutture necessarie per la delibera;</a:t>
            </a:r>
            <a:endParaRPr sz="1600">
              <a:solidFill>
                <a:srgbClr val="000000"/>
              </a:solidFill>
            </a:endParaRPr>
          </a:p>
          <a:p>
            <a:pPr marL="914400" lvl="1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it" sz="1600" i="1">
                <a:solidFill>
                  <a:srgbClr val="000000"/>
                </a:solidFill>
              </a:rPr>
              <a:t>row-val </a:t>
            </a:r>
            <a:r>
              <a:rPr lang="it" sz="1600">
                <a:solidFill>
                  <a:srgbClr val="000000"/>
                </a:solidFill>
              </a:rPr>
              <a:t>e </a:t>
            </a:r>
            <a:r>
              <a:rPr lang="it" sz="1600" i="1">
                <a:solidFill>
                  <a:srgbClr val="000000"/>
                </a:solidFill>
              </a:rPr>
              <a:t>col-val</a:t>
            </a:r>
            <a:r>
              <a:rPr lang="it" sz="1600">
                <a:solidFill>
                  <a:srgbClr val="000000"/>
                </a:solidFill>
              </a:rPr>
              <a:t> contengono, per ogni riga e colonna, rispettivamente, il numero di barche presenti, di quelle  trovate tramite un’operazione di guess e le celle di cui non si conosce il contenuto;</a:t>
            </a:r>
            <a:endParaRPr sz="1600">
              <a:solidFill>
                <a:srgbClr val="000000"/>
              </a:solidFill>
            </a:endParaRPr>
          </a:p>
          <a:p>
            <a:pPr marL="914400" lvl="1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it" sz="1600" i="1">
                <a:solidFill>
                  <a:srgbClr val="000000"/>
                </a:solidFill>
              </a:rPr>
              <a:t>agent-guess</a:t>
            </a:r>
            <a:r>
              <a:rPr lang="it" sz="1600">
                <a:solidFill>
                  <a:srgbClr val="000000"/>
                </a:solidFill>
              </a:rPr>
              <a:t> è la rappresentazione delle guess per l’agente;</a:t>
            </a:r>
            <a:endParaRPr sz="1600">
              <a:solidFill>
                <a:srgbClr val="000000"/>
              </a:solidFill>
            </a:endParaRPr>
          </a:p>
          <a:p>
            <a:pPr marL="914400" lvl="1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it" sz="1600" i="1">
                <a:solidFill>
                  <a:srgbClr val="000000"/>
                </a:solidFill>
              </a:rPr>
              <a:t>water</a:t>
            </a:r>
            <a:r>
              <a:rPr lang="it" sz="1600">
                <a:solidFill>
                  <a:srgbClr val="000000"/>
                </a:solidFill>
              </a:rPr>
              <a:t> indica le celle in cui è presente l’acqua;</a:t>
            </a:r>
            <a:endParaRPr sz="1600">
              <a:solidFill>
                <a:srgbClr val="000000"/>
              </a:solidFill>
            </a:endParaRPr>
          </a:p>
          <a:p>
            <a:pPr marL="457200" lvl="0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it" sz="1600" b="1">
                <a:solidFill>
                  <a:srgbClr val="000000"/>
                </a:solidFill>
              </a:rPr>
              <a:t>WATER</a:t>
            </a:r>
            <a:r>
              <a:rPr lang="it" sz="1600">
                <a:solidFill>
                  <a:srgbClr val="000000"/>
                </a:solidFill>
              </a:rPr>
              <a:t>, nel quale si istanziano dei fatti “water” per le celle in cui si suppone che ci sia l’acqua;</a:t>
            </a:r>
            <a:endParaRPr sz="1600">
              <a:solidFill>
                <a:srgbClr val="000000"/>
              </a:solidFill>
            </a:endParaRPr>
          </a:p>
          <a:p>
            <a:pPr marL="457200" lvl="0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it" sz="1600" b="1">
                <a:solidFill>
                  <a:srgbClr val="000000"/>
                </a:solidFill>
              </a:rPr>
              <a:t>GUESS</a:t>
            </a:r>
            <a:r>
              <a:rPr lang="it" sz="1600">
                <a:solidFill>
                  <a:srgbClr val="000000"/>
                </a:solidFill>
              </a:rPr>
              <a:t>, nel quale vengono fatte le guess sicure che sono state dedotte tramite ragionamento. In Agent 1 il ragionamento è più avanzato rispetto ad Agent2;</a:t>
            </a:r>
            <a:endParaRPr sz="1600">
              <a:solidFill>
                <a:srgbClr val="000000"/>
              </a:solidFill>
            </a:endParaRPr>
          </a:p>
          <a:p>
            <a:pPr marL="457200" lvl="0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it" sz="1600" b="1">
                <a:solidFill>
                  <a:srgbClr val="000000"/>
                </a:solidFill>
              </a:rPr>
              <a:t>RANDOM</a:t>
            </a:r>
            <a:r>
              <a:rPr lang="it" sz="1600">
                <a:solidFill>
                  <a:srgbClr val="000000"/>
                </a:solidFill>
              </a:rPr>
              <a:t>, nel quale sono presenti le metodologie di ragionamento per la scelta delle guess e delle fire. E’ il modulo che distingue i due agenti;</a:t>
            </a:r>
            <a:endParaRPr sz="1600">
              <a:solidFill>
                <a:srgbClr val="000000"/>
              </a:solidFill>
            </a:endParaRPr>
          </a:p>
          <a:p>
            <a:pPr marL="457200" lvl="0" indent="-31496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it" sz="1600" b="1">
                <a:solidFill>
                  <a:srgbClr val="000000"/>
                </a:solidFill>
              </a:rPr>
              <a:t>SOLVE</a:t>
            </a:r>
            <a:r>
              <a:rPr lang="it" sz="1600">
                <a:solidFill>
                  <a:srgbClr val="000000"/>
                </a:solidFill>
              </a:rPr>
              <a:t>, nel quale si effettua l’esecuzione della solve. 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"/>
                <a:ea typeface="Roboto"/>
                <a:cs typeface="Roboto"/>
                <a:sym typeface="Roboto"/>
              </a:rPr>
              <a:t>Strategia del primo agente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2"/>
                </a:solidFill>
              </a:rPr>
              <a:t>Ragionamento più avanzato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r>
              <a:rPr lang="it">
                <a:solidFill>
                  <a:schemeClr val="dk2"/>
                </a:solidFill>
              </a:rPr>
              <a:t>Nel caso in cui si sa che:</a:t>
            </a:r>
            <a:endParaRPr>
              <a:solidFill>
                <a:schemeClr val="dk2"/>
              </a:solidFill>
            </a:endParaRPr>
          </a:p>
          <a:p>
            <a:pPr marL="457200" lvl="0" indent="-3108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it">
                <a:solidFill>
                  <a:schemeClr val="dk2"/>
                </a:solidFill>
              </a:rPr>
              <a:t>c’è già una barca da 4 pezzi (nuovo fatto);</a:t>
            </a:r>
            <a:endParaRPr>
              <a:solidFill>
                <a:schemeClr val="dk2"/>
              </a:solidFill>
            </a:endParaRPr>
          </a:p>
          <a:p>
            <a:pPr marL="457200" lvl="0" indent="-3108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it">
                <a:solidFill>
                  <a:schemeClr val="dk2"/>
                </a:solidFill>
              </a:rPr>
              <a:t>quella riga o quella colonna non hanno più di 3 celle da guessare;</a:t>
            </a:r>
            <a:endParaRPr>
              <a:solidFill>
                <a:schemeClr val="dk2"/>
              </a:solidFill>
            </a:endParaRPr>
          </a:p>
          <a:p>
            <a:pPr marL="457200" lvl="0" indent="-3108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it">
                <a:solidFill>
                  <a:schemeClr val="dk2"/>
                </a:solidFill>
              </a:rPr>
              <a:t>nella cella oltre c’è acqua e non una agent-guess di qualche tipo;</a:t>
            </a:r>
            <a:endParaRPr>
              <a:solidFill>
                <a:schemeClr val="dk2"/>
              </a:solidFill>
            </a:endParaRPr>
          </a:p>
          <a:p>
            <a:pPr marL="457200" lvl="0" indent="-3108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it">
                <a:solidFill>
                  <a:schemeClr val="dk2"/>
                </a:solidFill>
              </a:rPr>
              <a:t>ci si trova in una delle righe o colonne all’estremità (0 o 9)...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Allora è fattibile riconoscere l’identità dell’elemento (top, bot, left o right).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Se invece si sa che l’elemento è vicino a 2 agent-guess, allora si sa che è un middle.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r>
              <a:rPr lang="it">
                <a:solidFill>
                  <a:schemeClr val="dk2"/>
                </a:solidFill>
              </a:rPr>
              <a:t>Avere queste regole ci permette di migliorare l’esclusione di determinate celle, tra le col-val e row-val, o l’aggiunta di nuove water-cell. Così si prolunga il ragionamento, migliorando le probabilità di avere delle fire e delle guess random che vadano a segno.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600" b="1">
                <a:solidFill>
                  <a:schemeClr val="dk2"/>
                </a:solidFill>
              </a:rPr>
              <a:t>Delibera fire e guess</a:t>
            </a:r>
            <a:endParaRPr sz="1600"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Dando la precedenza alle fire, vengono scelte, in maniera indiscriminata, le righe o le colonne che hanno una probabilità maggiore o uguale a 0.4 di andare a segno con la formula:</a:t>
            </a:r>
            <a:endParaRPr>
              <a:solidFill>
                <a:schemeClr val="dk2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it" i="1">
                <a:solidFill>
                  <a:schemeClr val="dk2"/>
                </a:solidFill>
              </a:rPr>
              <a:t>(test (&gt;= (/ (- ?b ?fb) ?mc) 0.4))</a:t>
            </a:r>
            <a:br>
              <a:rPr lang="it">
                <a:solidFill>
                  <a:schemeClr val="dk2"/>
                </a:solidFill>
              </a:rPr>
            </a:br>
            <a:r>
              <a:rPr lang="it">
                <a:solidFill>
                  <a:schemeClr val="dk2"/>
                </a:solidFill>
              </a:rPr>
              <a:t>nel caso in cui si conosce il numero di celle con barca per colonne e righe; </a:t>
            </a:r>
            <a:endParaRPr sz="1050">
              <a:solidFill>
                <a:srgbClr val="C5C8C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it" i="1">
                <a:solidFill>
                  <a:schemeClr val="dk2"/>
                </a:solidFill>
              </a:rPr>
              <a:t>(test (&gt;= (/ ?mc 10) 0.4))</a:t>
            </a:r>
            <a:br>
              <a:rPr lang="it" i="1">
                <a:solidFill>
                  <a:schemeClr val="dk2"/>
                </a:solidFill>
              </a:rPr>
            </a:br>
            <a:r>
              <a:rPr lang="it">
                <a:solidFill>
                  <a:schemeClr val="dk2"/>
                </a:solidFill>
              </a:rPr>
              <a:t>nel caso in cui non si conoscono quei valori.</a:t>
            </a:r>
            <a:endParaRPr sz="1050">
              <a:solidFill>
                <a:srgbClr val="C5C8C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Le fire hanno la precedenza perché, poiché ci forniscono informazioni sulle k-cell, ci permettono di tornare indietro e riapplicare i ragionamenti “sicuri” nelle fasi di water e guess.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Strategia del secondo agente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412025"/>
            <a:ext cx="3999900" cy="30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rgbClr val="000000"/>
                </a:solidFill>
              </a:rPr>
              <a:t>Delibera Fire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00"/>
                </a:solidFill>
              </a:rPr>
              <a:t>Le fire vengono fatte in base al valore delle agent-guess.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it">
                <a:solidFill>
                  <a:srgbClr val="000000"/>
                </a:solidFill>
              </a:rPr>
              <a:t>middle: si ricava l’orientamento della barca e si spara nelle celle adiacenti corrispondenti (tramite guess o water cerchiamo di capire se è verticale o orizzontale);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it">
                <a:solidFill>
                  <a:srgbClr val="000000"/>
                </a:solidFill>
              </a:rPr>
              <a:t>sub/not-know: si spara a croce a distanza 2;</a:t>
            </a:r>
            <a:endParaRPr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it">
                <a:solidFill>
                  <a:schemeClr val="dk2"/>
                </a:solidFill>
              </a:rPr>
              <a:t>left/right/top/bot: si spara nella direzione corrispondente a distanza 2 (es left: si spara a destra di due).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2"/>
          </p:nvPr>
        </p:nvSpPr>
        <p:spPr>
          <a:xfrm>
            <a:off x="4832400" y="1412025"/>
            <a:ext cx="3999900" cy="30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2"/>
                </a:solidFill>
              </a:rPr>
              <a:t>Delibera Guess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solidFill>
                  <a:schemeClr val="dk2"/>
                </a:solidFill>
              </a:rPr>
              <a:t>Dopo aver eseguito tutte le fire, per ogni cella su cui è stata posta una agent-guess e di cui il contenuto è not-know, l’agente compie ulteriori quattro guess a croce (evitando celle con già una guess/fire/water).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475" y="3085125"/>
            <a:ext cx="1513292" cy="15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20259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Caso 1</a:t>
            </a:r>
            <a:endParaRPr dirty="0"/>
          </a:p>
        </p:txBody>
      </p:sp>
      <p:graphicFrame>
        <p:nvGraphicFramePr>
          <p:cNvPr id="103" name="Google Shape;103;p19"/>
          <p:cNvGraphicFramePr/>
          <p:nvPr/>
        </p:nvGraphicFramePr>
        <p:xfrm>
          <a:off x="2579750" y="1229850"/>
          <a:ext cx="6350550" cy="2117695"/>
        </p:xfrm>
        <a:graphic>
          <a:graphicData uri="http://schemas.openxmlformats.org/drawingml/2006/table">
            <a:tbl>
              <a:tblPr>
                <a:noFill/>
                <a:tableStyleId>{A7BF5B48-03BD-44AB-AD7C-0B610B7DE681}</a:tableStyleId>
              </a:tblPr>
              <a:tblGrid>
                <a:gridCol w="21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Caratteristiche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Zero indizi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No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-255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</a:t>
                      </a:r>
                      <a:r>
                        <a:rPr lang="it" sz="1200" b="1"/>
                        <a:t> -700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Zero indizi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Sì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2"/>
                          </a:solidFill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solidFill>
                            <a:schemeClr val="dk2"/>
                          </a:solidFill>
                          <a:highlight>
                            <a:srgbClr val="B4A7D6"/>
                          </a:highlight>
                        </a:rPr>
                        <a:t>500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-700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[5,5] sub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Si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highlight>
                            <a:srgbClr val="B4A7D6"/>
                          </a:highlight>
                        </a:rPr>
                        <a:t>480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highlight>
                            <a:srgbClr val="B4A7D6"/>
                          </a:highlight>
                        </a:rPr>
                        <a:t>500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8975"/>
            <a:ext cx="2185138" cy="22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700" y="3468700"/>
            <a:ext cx="8618600" cy="15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Osservazioni</a:t>
            </a:r>
            <a:endParaRPr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1: data la poca sparsità delle barche, conoscere i valori delle guess delle righe e delle colonne permette all’agente 1 di poter escludere già a priori una vasta quantità di celle, e quindi di poter applicare un ragionamento profondo prima di ricorrere alle fire e alle guess randomiche.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2: data la poca sparsità delle barche, l’agente due ottiene ottimi risultati anche con un solo indizio.</a:t>
            </a:r>
            <a:b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num_fire_ok: </a:t>
            </a:r>
            <a:r>
              <a:rPr lang="it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num_fire_ko:0, num_guess_ok:</a:t>
            </a:r>
            <a:r>
              <a:rPr lang="it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it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num_guess_ko:0, num_safe:0, num_sink:10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0421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Caso 2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78325" y="3772975"/>
            <a:ext cx="8768700" cy="12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Osservazioni</a:t>
            </a:r>
            <a:endParaRPr sz="1400"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1: data la conoscenza delle guess e delle righe e delle colonne, in generale l’agente 1 riesce a ragionare sempre abbastanza bene.</a:t>
            </a:r>
            <a:endParaRPr sz="14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2: data l’elevata sparsità, agente 2 fallisce la maggior parte delle fire/guess randomiche.</a:t>
            </a:r>
            <a:b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num_fire_ok: 0, num_fire_ko:</a:t>
            </a:r>
            <a:r>
              <a:rPr lang="it" sz="14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num_guess_ok:8, num_guess_ko:</a:t>
            </a:r>
            <a:r>
              <a:rPr lang="it" sz="14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it" sz="14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num_safe:12, num_sink:3</a:t>
            </a:r>
            <a:endParaRPr dirty="0"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250"/>
            <a:ext cx="2201266" cy="2209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20"/>
          <p:cNvGraphicFramePr/>
          <p:nvPr/>
        </p:nvGraphicFramePr>
        <p:xfrm>
          <a:off x="2638475" y="848250"/>
          <a:ext cx="6303450" cy="2758320"/>
        </p:xfrm>
        <a:graphic>
          <a:graphicData uri="http://schemas.openxmlformats.org/drawingml/2006/table">
            <a:tbl>
              <a:tblPr>
                <a:noFill/>
                <a:tableStyleId>{A7BF5B48-03BD-44AB-AD7C-0B610B7DE681}</a:tableStyleId>
              </a:tblPr>
              <a:tblGrid>
                <a:gridCol w="210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Caratteristiche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Zero indizi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Si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105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</a:t>
                      </a:r>
                      <a:r>
                        <a:rPr lang="it" sz="1200" b="1"/>
                        <a:t> -700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[4,4] middle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Si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265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-485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[4,4] middle, [0,3] sub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Si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2"/>
                          </a:solidFill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solidFill>
                            <a:schemeClr val="dk2"/>
                          </a:solidFill>
                          <a:highlight>
                            <a:srgbClr val="B4A7D6"/>
                          </a:highlight>
                        </a:rPr>
                        <a:t>335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highlight>
                            <a:srgbClr val="B4A7D6"/>
                          </a:highlight>
                        </a:rPr>
                        <a:t>-140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>
                          <a:solidFill>
                            <a:schemeClr val="dk2"/>
                          </a:solidFill>
                        </a:rPr>
                        <a:t>[4,4] middle, [0,3] sub, [8,0] water, [6,4] water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>
                          <a:solidFill>
                            <a:schemeClr val="dk2"/>
                          </a:solidFill>
                        </a:rPr>
                        <a:t>No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solidFill>
                            <a:schemeClr val="dk2"/>
                          </a:solidFill>
                        </a:rPr>
                        <a:t>Score: </a:t>
                      </a:r>
                      <a:r>
                        <a:rPr lang="it" sz="1200" b="1">
                          <a:solidFill>
                            <a:schemeClr val="dk2"/>
                          </a:solidFill>
                        </a:rPr>
                        <a:t>-100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-530</a:t>
                      </a:r>
                      <a:r>
                        <a:rPr lang="it" sz="1200">
                          <a:highlight>
                            <a:srgbClr val="B4A7D6"/>
                          </a:highlight>
                        </a:rPr>
                        <a:t> </a:t>
                      </a:r>
                      <a:endParaRPr sz="120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Caso 3</a:t>
            </a:r>
            <a:endParaRPr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187650" y="3570124"/>
            <a:ext cx="8768700" cy="1573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8571"/>
              <a:buFont typeface="Arial"/>
              <a:buNone/>
            </a:pPr>
            <a:r>
              <a:rPr lang="it" sz="1200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Osservazioni</a:t>
            </a:r>
            <a:endParaRPr sz="1200"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74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it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1:  Questo è uno dei casi meno ottimali per l’agente 1: pur conoscendo anche i valori di righe e di colonne riesce a fare un punteggio migliore rispetto al non conoscerle, nonostante si trovi in una situazione poco d’aiuto per il fatto che in ogni riga e in ogni colonna c’è almeno 1 guess da fare, e quindi non ha il vantaggio di poter escludere già una serie di celle fin dall’inizio.</a:t>
            </a:r>
            <a:endParaRPr sz="12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74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Char char="●"/>
            </a:pPr>
            <a:r>
              <a:rPr lang="it" sz="1200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2: nei due casi analizzati, vediamo come l’agente 2 ottenga uno score migliore con meno indizi. Questo succede perché vengono fatte più guess randomiche in celle con acqua, che nel secondo caso vengono evitate perché già conosciute.</a:t>
            </a:r>
            <a:endParaRPr sz="1200" dirty="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50" y="1068425"/>
            <a:ext cx="2476500" cy="2514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1"/>
          <p:cNvGraphicFramePr/>
          <p:nvPr>
            <p:extLst>
              <p:ext uri="{D42A27DB-BD31-4B8C-83A1-F6EECF244321}">
                <p14:modId xmlns:p14="http://schemas.microsoft.com/office/powerpoint/2010/main" val="2558078705"/>
              </p:ext>
            </p:extLst>
          </p:nvPr>
        </p:nvGraphicFramePr>
        <p:xfrm>
          <a:off x="2840275" y="1454622"/>
          <a:ext cx="6116075" cy="1843980"/>
        </p:xfrm>
        <a:graphic>
          <a:graphicData uri="http://schemas.openxmlformats.org/drawingml/2006/table">
            <a:tbl>
              <a:tblPr>
                <a:noFill/>
                <a:tableStyleId>{A7BF5B48-03BD-44AB-AD7C-0B610B7DE681}</a:tableStyleId>
              </a:tblPr>
              <a:tblGrid>
                <a:gridCol w="20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Caratteristiche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[0,0] sub, [8,4] right, [4,7] left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No valori righe e colonne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Score: </a:t>
                      </a:r>
                      <a:r>
                        <a:rPr lang="it" sz="1200" b="1"/>
                        <a:t>-25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it" sz="1200" b="0" i="0" u="none" strike="noStrike" cap="none" dirty="0">
                          <a:solidFill>
                            <a:srgbClr val="000000"/>
                          </a:solidFill>
                          <a:highlight>
                            <a:srgbClr val="B4A7D6"/>
                          </a:highlight>
                          <a:latin typeface="Arial"/>
                          <a:cs typeface="Arial"/>
                          <a:sym typeface="Arial"/>
                        </a:rPr>
                        <a:t>Score: -25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highlight>
                          <a:srgbClr val="B4A7D6"/>
                        </a:highlight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200" dirty="0">
                          <a:solidFill>
                            <a:schemeClr val="dk2"/>
                          </a:solidFill>
                        </a:rPr>
                        <a:t>[0,0] sub, [8,4] right, [4,7] left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 dirty="0"/>
                        <a:t>Si valori righe e colonne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>
                          <a:highlight>
                            <a:srgbClr val="B4A7D6"/>
                          </a:highlight>
                        </a:rPr>
                        <a:t>245</a:t>
                      </a:r>
                      <a:endParaRPr sz="12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 dirty="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1200" b="1" dirty="0">
                          <a:highlight>
                            <a:srgbClr val="B4A7D6"/>
                          </a:highlight>
                        </a:rPr>
                        <a:t>-180</a:t>
                      </a:r>
                      <a:endParaRPr sz="1200" b="1" dirty="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Caso 4</a:t>
            </a:r>
            <a:endParaRPr dirty="0"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2295525" cy="2295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2"/>
          <p:cNvGraphicFramePr/>
          <p:nvPr/>
        </p:nvGraphicFramePr>
        <p:xfrm>
          <a:off x="2520863" y="106800"/>
          <a:ext cx="6116075" cy="4887420"/>
        </p:xfrm>
        <a:graphic>
          <a:graphicData uri="http://schemas.openxmlformats.org/drawingml/2006/table">
            <a:tbl>
              <a:tblPr>
                <a:noFill/>
                <a:tableStyleId>{A7BF5B48-03BD-44AB-AD7C-0B610B7DE681}</a:tableStyleId>
              </a:tblPr>
              <a:tblGrid>
                <a:gridCol w="205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Caratteristiche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/>
                        <a:t>Agente 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A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Zero indizi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Si valori righe e colonne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Score: </a:t>
                      </a:r>
                      <a:r>
                        <a:rPr lang="it" sz="900" b="1">
                          <a:solidFill>
                            <a:schemeClr val="dk2"/>
                          </a:solidFill>
                        </a:rPr>
                        <a:t>280</a:t>
                      </a: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Score: </a:t>
                      </a:r>
                      <a:r>
                        <a:rPr lang="it" sz="900" b="1">
                          <a:solidFill>
                            <a:schemeClr val="dk2"/>
                          </a:solidFill>
                        </a:rPr>
                        <a:t>-700</a:t>
                      </a:r>
                      <a:endParaRPr sz="900" b="1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B:</a:t>
                      </a:r>
                      <a:br>
                        <a:rPr lang="it" sz="900">
                          <a:solidFill>
                            <a:schemeClr val="dk2"/>
                          </a:solidFill>
                        </a:rPr>
                      </a:br>
                      <a:r>
                        <a:rPr lang="it" sz="900">
                          <a:solidFill>
                            <a:schemeClr val="dk2"/>
                          </a:solidFill>
                        </a:rPr>
                        <a:t>[4,9] middle, [5,4] sub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Si valori righe e colonne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Score: </a:t>
                      </a:r>
                      <a:r>
                        <a:rPr lang="it" sz="900" b="1">
                          <a:solidFill>
                            <a:schemeClr val="dk2"/>
                          </a:solidFill>
                        </a:rPr>
                        <a:t>480</a:t>
                      </a: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Score: </a:t>
                      </a:r>
                      <a:r>
                        <a:rPr lang="it" sz="900" b="1">
                          <a:solidFill>
                            <a:schemeClr val="dk2"/>
                          </a:solidFill>
                        </a:rPr>
                        <a:t>-460</a:t>
                      </a:r>
                      <a:endParaRPr sz="900" b="1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C:</a:t>
                      </a:r>
                      <a:br>
                        <a:rPr lang="it" sz="900">
                          <a:solidFill>
                            <a:schemeClr val="dk2"/>
                          </a:solidFill>
                        </a:rPr>
                      </a:br>
                      <a:r>
                        <a:rPr lang="it" sz="900">
                          <a:solidFill>
                            <a:schemeClr val="dk2"/>
                          </a:solidFill>
                        </a:rPr>
                        <a:t>[4,9] middle, [5,4] sub, [0,1] water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Si valori righe e colonne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900" b="1">
                          <a:highlight>
                            <a:srgbClr val="B4A7D6"/>
                          </a:highlight>
                        </a:rPr>
                        <a:t>460</a:t>
                      </a:r>
                      <a:endParaRPr sz="9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Score: </a:t>
                      </a:r>
                      <a:r>
                        <a:rPr lang="it" sz="900" b="1"/>
                        <a:t>-460</a:t>
                      </a:r>
                      <a:endParaRPr sz="9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D: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[4,9] middle, [5,4] sub, [6,0] water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Si valori righe e colonne</a:t>
                      </a:r>
                      <a:endParaRPr sz="900"/>
                    </a:p>
                  </a:txBody>
                  <a:tcPr marL="91425" marR="91425" marT="91425" marB="91425">
                    <a:lnR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highlight>
                            <a:srgbClr val="B4A7D6"/>
                          </a:highlight>
                        </a:rPr>
                        <a:t>Score: 420</a:t>
                      </a:r>
                      <a:endParaRPr sz="90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900" b="1">
                          <a:highlight>
                            <a:srgbClr val="B4A7D6"/>
                          </a:highlight>
                        </a:rPr>
                        <a:t>500</a:t>
                      </a:r>
                      <a:endParaRPr sz="9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E: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[4,9] middle, [5,4] sub, [0,1] water, [6,0] water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Si valori righe e colonne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highlight>
                            <a:srgbClr val="B4A7D6"/>
                          </a:highlight>
                        </a:rPr>
                        <a:t>Score: 400.</a:t>
                      </a:r>
                      <a:endParaRPr sz="900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highlight>
                            <a:srgbClr val="B4A7D6"/>
                          </a:highlight>
                        </a:rPr>
                        <a:t>Score: </a:t>
                      </a:r>
                      <a:r>
                        <a:rPr lang="it" sz="900" b="1">
                          <a:highlight>
                            <a:srgbClr val="B4A7D6"/>
                          </a:highlight>
                        </a:rPr>
                        <a:t>500</a:t>
                      </a:r>
                      <a:endParaRPr sz="900" b="1">
                        <a:highlight>
                          <a:srgbClr val="B4A7D6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Caso F: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[4,9] middle, [5,4] sub, [0,1] water, [6,0] water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solidFill>
                            <a:schemeClr val="dk2"/>
                          </a:solidFill>
                        </a:rPr>
                        <a:t>No valori righe e colonne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Score: -25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4A7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Score: </a:t>
                      </a:r>
                      <a:r>
                        <a:rPr lang="it" sz="900" b="1"/>
                        <a:t>-510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Osservazioni sul caso 4</a:t>
            </a:r>
            <a:endParaRPr dirty="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200100"/>
            <a:ext cx="8419500" cy="3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Agente 1: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532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95"/>
              <a:buFont typeface="Roboto"/>
              <a:buChar char="●"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Nel caso D abbiamo 20 punti in più (420) rispetto al caso E, nonostante abbiamo un’informazione di k-cell in meno.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5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5"/>
              <a:buFont typeface="Roboto"/>
              <a:buChar char="●"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Controintuitivamente, i casi in cui è stato fatto 400 e 420, (D ed E) sono di punteggio migliore rispetto a quando facciamo 480.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5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5"/>
              <a:buFont typeface="Roboto"/>
              <a:buChar char="●"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 caso F è un chiaro esempio di quanto cambino i risultati dell’agente 1 quando conosciamo e non conosciamo i valori delle righe e delle colonne.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Agente 2: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5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5"/>
              <a:buFont typeface="Roboto"/>
              <a:buChar char="●"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Dipende moltissimo dagli indizi forniti, con score che variano da -700 a 500.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5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95"/>
              <a:buFont typeface="Roboto"/>
              <a:buChar char="●"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Il risultato varia anche in base all’indizio stesso: in base alla cella d’acqua fornita, possiamo ottenere risultati come -460 oppure 500.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Soluzione Caso C [(num_fire_ok 0)(num_guess_ok 4) (moves (fires 4) (guesses 16)) ]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95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Soluzione Caso D [(num_fire_ok 5) (num_guess_ok 20)(moves (fires 0) (guesses 0)) ]</a:t>
            </a:r>
            <a:endParaRPr sz="1495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17957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Risultati e Conclusioni</a:t>
            </a:r>
            <a:endParaRPr/>
          </a:p>
        </p:txBody>
      </p:sp>
      <p:graphicFrame>
        <p:nvGraphicFramePr>
          <p:cNvPr id="140" name="Google Shape;140;p24"/>
          <p:cNvGraphicFramePr/>
          <p:nvPr/>
        </p:nvGraphicFramePr>
        <p:xfrm>
          <a:off x="249525" y="802975"/>
          <a:ext cx="8520600" cy="4124925"/>
        </p:xfrm>
        <a:graphic>
          <a:graphicData uri="http://schemas.openxmlformats.org/drawingml/2006/table">
            <a:tbl>
              <a:tblPr>
                <a:noFill/>
                <a:tableStyleId>{A7BF5B48-03BD-44AB-AD7C-0B610B7DE681}</a:tableStyleId>
              </a:tblPr>
              <a:tblGrid>
                <a:gridCol w="110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762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b="1"/>
                        <a:t>Agente 1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762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b="1"/>
                        <a:t>Agente 2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b="1"/>
                        <a:t>Vantaggi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Roboto"/>
                        <a:buChar char="●"/>
                      </a:pPr>
                      <a:r>
                        <a:rPr lang="it" sz="1300"/>
                        <a:t>Riesce a fare guess e fire anche senza indizi;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/>
                        <a:t>si basa molto sulle informazioni ricavate e colpisce/fa guess sempre nei punti più promettenti;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/>
                        <a:t>ci sono alcune fasi di ragionamento per induzione più avanzate (basate sulla forma delle celle);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/>
                        <a:t>l’alta sparsità non lo limita.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/>
                        <a:t>Fa guess e fire sui punti vicini a una cella guessata incrementando le probabilità di affondare una nave.</a:t>
                      </a:r>
                      <a:endParaRPr sz="1300"/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8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b="1"/>
                        <a:t>Svantaggi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>
                          <a:solidFill>
                            <a:schemeClr val="dk2"/>
                          </a:solidFill>
                        </a:rPr>
                        <a:t>Dipende molto dalle k-per-col e k-per-row.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Roboto"/>
                        <a:buChar char="●"/>
                      </a:pPr>
                      <a:r>
                        <a:rPr lang="it" sz="1300">
                          <a:solidFill>
                            <a:schemeClr val="dk2"/>
                          </a:solidFill>
                        </a:rPr>
                        <a:t>Dipende da k-per-col e k-per-row;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Roboto"/>
                        <a:buChar char="●"/>
                      </a:pPr>
                      <a:r>
                        <a:rPr lang="it" sz="1300">
                          <a:solidFill>
                            <a:schemeClr val="dk2"/>
                          </a:solidFill>
                        </a:rPr>
                        <a:t>dipende molto dagli indizi (k-cell), non funzionando in assenza;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Roboto"/>
                        <a:buChar char="●"/>
                      </a:pPr>
                      <a:r>
                        <a:rPr lang="it" sz="1300"/>
                        <a:t>dipende molto dalla sparsità, funzionando principalmente con i casi meno sparsi;</a:t>
                      </a:r>
                      <a:endParaRPr sz="1300"/>
                    </a:p>
                    <a:p>
                      <a:pPr marL="457200" lvl="0" indent="-3111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Char char="●"/>
                      </a:pPr>
                      <a:r>
                        <a:rPr lang="it" sz="1300"/>
                        <a:t>usa un ragionamento di induzione di base.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ctrTitle"/>
          </p:nvPr>
        </p:nvSpPr>
        <p:spPr>
          <a:xfrm>
            <a:off x="471000" y="978850"/>
            <a:ext cx="62919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Grazie per l’attenzione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003" y="264475"/>
            <a:ext cx="1619197" cy="1994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Microsoft Office PowerPoint</Application>
  <PresentationFormat>Presentazione su schermo (16:9)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Raleway</vt:lpstr>
      <vt:lpstr>Roboto</vt:lpstr>
      <vt:lpstr>Source Sans Pro</vt:lpstr>
      <vt:lpstr>Plum</vt:lpstr>
      <vt:lpstr>Progetto IA LAB</vt:lpstr>
      <vt:lpstr>Introduzione</vt:lpstr>
      <vt:lpstr>Caratteristiche in comune</vt:lpstr>
      <vt:lpstr>Strategia del primo agente</vt:lpstr>
      <vt:lpstr>Strategia del secondo agente</vt:lpstr>
      <vt:lpstr>Caso 1</vt:lpstr>
      <vt:lpstr>Caso 2</vt:lpstr>
      <vt:lpstr>Caso 3</vt:lpstr>
      <vt:lpstr>Caso 4</vt:lpstr>
      <vt:lpstr>Osservazioni sul caso 4</vt:lpstr>
      <vt:lpstr>Risultati e Conclusioni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Giulia</cp:lastModifiedBy>
  <cp:revision>4</cp:revision>
  <dcterms:modified xsi:type="dcterms:W3CDTF">2026-10-14T13:55:51Z</dcterms:modified>
</cp:coreProperties>
</file>